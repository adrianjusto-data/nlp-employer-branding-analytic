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851" autoAdjust="0"/>
  </p:normalViewPr>
  <p:slideViewPr>
    <p:cSldViewPr snapToGrid="0" snapToObjects="1">
      <p:cViewPr varScale="1">
        <p:scale>
          <a:sx n="84" d="100"/>
          <a:sy n="84" d="100"/>
        </p:scale>
        <p:origin x="313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2956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Buenos días. Les </a:t>
            </a:r>
            <a:r>
              <a:rPr dirty="0" err="1"/>
              <a:t>presento</a:t>
            </a:r>
            <a:r>
              <a:rPr dirty="0"/>
              <a:t> </a:t>
            </a:r>
            <a:r>
              <a:rPr dirty="0" err="1"/>
              <a:t>el</a:t>
            </a:r>
            <a:r>
              <a:rPr dirty="0"/>
              <a:t> </a:t>
            </a:r>
            <a:r>
              <a:rPr dirty="0" err="1"/>
              <a:t>diagnóstico</a:t>
            </a:r>
            <a:r>
              <a:rPr dirty="0"/>
              <a:t> de </a:t>
            </a:r>
            <a:r>
              <a:rPr dirty="0" err="1"/>
              <a:t>marca</a:t>
            </a:r>
            <a:r>
              <a:rPr dirty="0"/>
              <a:t> </a:t>
            </a:r>
            <a:r>
              <a:rPr dirty="0" err="1"/>
              <a:t>empleadora</a:t>
            </a:r>
            <a:r>
              <a:rPr dirty="0"/>
              <a:t> que </a:t>
            </a:r>
            <a:r>
              <a:rPr dirty="0" err="1"/>
              <a:t>RRHH</a:t>
            </a:r>
            <a:r>
              <a:rPr dirty="0"/>
              <a:t> </a:t>
            </a:r>
            <a:r>
              <a:rPr dirty="0" err="1"/>
              <a:t>nos</a:t>
            </a:r>
            <a:r>
              <a:rPr dirty="0"/>
              <a:t> </a:t>
            </a:r>
            <a:r>
              <a:rPr dirty="0" err="1"/>
              <a:t>encargó</a:t>
            </a:r>
            <a:r>
              <a:rPr dirty="0"/>
              <a:t> para Deutsche Bank. </a:t>
            </a:r>
            <a:r>
              <a:rPr dirty="0" err="1"/>
              <a:t>Hemos</a:t>
            </a:r>
            <a:r>
              <a:rPr dirty="0"/>
              <a:t> </a:t>
            </a:r>
            <a:r>
              <a:rPr dirty="0" err="1"/>
              <a:t>analizado</a:t>
            </a:r>
            <a:r>
              <a:rPr dirty="0"/>
              <a:t> 2.500 </a:t>
            </a:r>
            <a:r>
              <a:rPr dirty="0" err="1"/>
              <a:t>reseñas</a:t>
            </a:r>
            <a:r>
              <a:rPr dirty="0"/>
              <a:t> de Glassdoor, </a:t>
            </a:r>
            <a:r>
              <a:rPr dirty="0" err="1"/>
              <a:t>comparándolo</a:t>
            </a:r>
            <a:r>
              <a:rPr dirty="0"/>
              <a:t> con cuatro </a:t>
            </a:r>
            <a:r>
              <a:rPr dirty="0" err="1"/>
              <a:t>bancos</a:t>
            </a:r>
            <a:r>
              <a:rPr dirty="0"/>
              <a:t> </a:t>
            </a:r>
            <a:r>
              <a:rPr dirty="0" err="1"/>
              <a:t>competidores</a:t>
            </a:r>
            <a:r>
              <a:rPr dirty="0"/>
              <a:t>, </a:t>
            </a:r>
            <a:r>
              <a:rPr dirty="0" err="1"/>
              <a:t>usando</a:t>
            </a:r>
            <a:r>
              <a:rPr dirty="0"/>
              <a:t> </a:t>
            </a:r>
            <a:r>
              <a:rPr dirty="0" err="1"/>
              <a:t>análisis</a:t>
            </a:r>
            <a:r>
              <a:rPr dirty="0"/>
              <a:t> de </a:t>
            </a:r>
            <a:r>
              <a:rPr dirty="0" err="1"/>
              <a:t>sentimiento</a:t>
            </a:r>
            <a:r>
              <a:rPr dirty="0"/>
              <a:t> y topic modeling.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El objetivo era identificar dónde invertir para mejorar la marca empleadora de Deutsche Bank. No basta con saber qué dicen los empleados: hay que saber si eso es mejor o peor que el mercado.</a:t>
            </a:r>
          </a:p>
          <a:p>
            <a:pPr>
              <a:lnSpc>
                <a:spcPct val="107000"/>
              </a:lnSpc>
              <a:spcAft>
                <a:spcPts val="800"/>
              </a:spcAft>
            </a:pPr>
            <a:endParaRPr lang="es-E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Por eso elegimos cuatro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peers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que comparten perfil de negocio, geografía y tipo de empleado: J-P-Morgan, Barclays, Citi y HSBC. Los cinco bancos superan las 5.000 reseñas disponibles en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Glassdoor</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así que las comparaciones son estadísticamente robustas.</a:t>
            </a:r>
          </a:p>
          <a:p>
            <a:pPr>
              <a:lnSpc>
                <a:spcPct val="107000"/>
              </a:lnSpc>
              <a:spcAft>
                <a:spcPts val="800"/>
              </a:spcAft>
            </a:pPr>
            <a:endParaRPr lang="es-E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Trabajamos con una muestra equilibrada: 500 reseñas por empresa, 2.500 en total. Así ninguna empresa domina el modelo de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topics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El pipeline tiene cinco pasos. (pausa)</a:t>
            </a:r>
          </a:p>
          <a:p>
            <a:pPr marL="342900" indent="-342900">
              <a:lnSpc>
                <a:spcPct val="107000"/>
              </a:lnSpc>
              <a:spcAft>
                <a:spcPts val="800"/>
              </a:spcAft>
              <a:buFont typeface="+mj-lt"/>
              <a:buAutoNum type="arabicPeriod"/>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Primero cargamos y preparamos las reseñas. </a:t>
            </a:r>
          </a:p>
          <a:p>
            <a:pPr marL="342900" indent="-342900">
              <a:lnSpc>
                <a:spcPct val="107000"/>
              </a:lnSpc>
              <a:spcAft>
                <a:spcPts val="800"/>
              </a:spcAft>
              <a:buFont typeface="+mj-lt"/>
              <a:buAutoNum type="arabicPeriod"/>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Segundo, validamos el sentimiento con un modelo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DistilBERT</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para comprobar que los pros son positivos y los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cons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son negativos.</a:t>
            </a:r>
          </a:p>
          <a:p>
            <a:pPr marL="342900" indent="-342900">
              <a:lnSpc>
                <a:spcPct val="107000"/>
              </a:lnSpc>
              <a:spcAft>
                <a:spcPts val="800"/>
              </a:spcAft>
              <a:buFont typeface="+mj-lt"/>
              <a:buAutoNum type="arabicPeriod"/>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Tercero, extraemos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topics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con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BERTopic</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Elegimos este modelo en lugar de métodos clásicos como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LDA</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porque usa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embeddings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semánticos, y eso funciona mucho mejor con textos cortos e informales como los de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Glassdoor</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indent="-342900">
              <a:lnSpc>
                <a:spcPct val="107000"/>
              </a:lnSpc>
              <a:spcAft>
                <a:spcPts val="800"/>
              </a:spcAft>
              <a:buFont typeface="+mj-lt"/>
              <a:buAutoNum type="arabicPeriod"/>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Cuarto, agrupamos esos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topics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en 9 categorías de negocio interpretables por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RRHH</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compensación, conciliación, cultura, carrera, marca, equipo, burocracia, carga laboral y comunicación.</a:t>
            </a:r>
          </a:p>
          <a:p>
            <a:pPr marL="342900" indent="-342900">
              <a:lnSpc>
                <a:spcPct val="107000"/>
              </a:lnSpc>
              <a:spcAft>
                <a:spcPts val="800"/>
              </a:spcAft>
              <a:buFont typeface="+mj-lt"/>
              <a:buAutoNum type="arabicPeriod"/>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Quinto, comparamos el peso de cada categoría entre empresas con dos métricas: el porcentaje bruto y el balance neto, que es % pros − %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cons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El balance neto es la métrica clave, porque los porcentajes por empresa suman 100% y pueden engañar. Si una empresa tiene pocas quejas de salario, el peso del salario baja, pero sube el del resto aunque nada haya empeorado.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r>
              <a:rPr lang="es-MX" b="0" i="0" dirty="0">
                <a:solidFill>
                  <a:srgbClr val="F9FAFB"/>
                </a:solidFill>
                <a:effectLst/>
                <a:latin typeface="quote-cjk-patch"/>
              </a:rPr>
              <a:t>El EDA nos da el primer titular. (pausa) </a:t>
            </a:r>
          </a:p>
          <a:p>
            <a:pPr algn="l"/>
            <a:endParaRPr lang="es-MX" b="0" i="0" dirty="0">
              <a:solidFill>
                <a:srgbClr val="F9FAFB"/>
              </a:solidFill>
              <a:effectLst/>
              <a:latin typeface="quote-cjk-patch"/>
            </a:endParaRPr>
          </a:p>
          <a:p>
            <a:pPr algn="l"/>
            <a:r>
              <a:rPr lang="es-MX" b="0" i="0" dirty="0">
                <a:solidFill>
                  <a:srgbClr val="F9FAFB"/>
                </a:solidFill>
                <a:effectLst/>
                <a:latin typeface="quote-cjk-patch"/>
              </a:rPr>
              <a:t>Hay dos métricas que cuentan historias distintas. </a:t>
            </a:r>
          </a:p>
          <a:p>
            <a:pPr algn="l"/>
            <a:endParaRPr lang="es-MX" b="0" i="0" dirty="0">
              <a:solidFill>
                <a:srgbClr val="F9FAFB"/>
              </a:solidFill>
              <a:effectLst/>
              <a:latin typeface="quote-cjk-patch"/>
            </a:endParaRPr>
          </a:p>
          <a:p>
            <a:pPr algn="l"/>
            <a:r>
              <a:rPr lang="es-MX" b="0" i="0" dirty="0">
                <a:solidFill>
                  <a:srgbClr val="F9FAFB"/>
                </a:solidFill>
                <a:effectLst/>
                <a:latin typeface="quote-cjk-patch"/>
              </a:rPr>
              <a:t>En rating medio, Deutsche Bank está en 3.73, por debajo de J-P-Morgan (3.91) y Barclays (3.90), pero en el mismo grupo que Citi (3.70) y HSBC (3.72): los cuatro se mueven entre 3.70 y 3.73.</a:t>
            </a:r>
          </a:p>
          <a:p>
            <a:pPr algn="l"/>
            <a:r>
              <a:rPr lang="es-MX" b="0" i="0" dirty="0">
                <a:solidFill>
                  <a:srgbClr val="F9FAFB"/>
                </a:solidFill>
                <a:effectLst/>
                <a:latin typeface="quote-cjk-patch"/>
              </a:rPr>
              <a:t>La historia cambia cuando miramos la recomendación. Ahí sí hay un ganador claro y un perdedor claro. Solo el 41.4% de los empleados de DB recomendaría la empresa, frente al 52.6% de J-P-Morgan. Y el 20.4% la desaconseja activamente, frente al 12.8% de Barclays.</a:t>
            </a:r>
          </a:p>
          <a:p>
            <a:pPr algn="l"/>
            <a:r>
              <a:rPr lang="es-MX" b="0" i="0" dirty="0">
                <a:solidFill>
                  <a:srgbClr val="F9FAFB"/>
                </a:solidFill>
                <a:effectLst/>
                <a:latin typeface="quote-cjk-patch"/>
              </a:rPr>
              <a:t>Con 500 reseñas por empresa, estas diferencias son estadísticamente sólidas. DB no es el peor en todo, pero sí es claramente el peor cuando se trata de si los empleados recomendarían trabajar allí.</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Antes de fiarnos del análisis de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topics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validamos que el modelo de sentimiento clasifica bien pros y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cons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El resultado es bueno: 92% de los pros se clasifican como positivos, y 82% de los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cons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como negativos. El modelo funciona.</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Pero conviene mirar los fallos. Tienen dos tipos. </a:t>
            </a:r>
          </a:p>
          <a:p>
            <a:pPr marL="342900" lvl="0" indent="-342900">
              <a:lnSpc>
                <a:spcPct val="107000"/>
              </a:lnSpc>
              <a:buFont typeface="+mj-lt"/>
              <a:buAutoNum type="arabicPeriod"/>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Primer tipo: frases mixtas que el modelo interpreta bien. Por ejemplo,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pay</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is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good</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but</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still</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lower</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than</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street</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se clasifica como negativa, y es correcto: la segunda parte domina.</a:t>
            </a:r>
          </a:p>
          <a:p>
            <a:pPr marL="342900" lvl="0" indent="-342900">
              <a:lnSpc>
                <a:spcPct val="107000"/>
              </a:lnSpc>
              <a:spcAft>
                <a:spcPts val="800"/>
              </a:spcAft>
              <a:buFont typeface="+mj-lt"/>
              <a:buAutoNum type="arabicPeriod"/>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Segundo tipo: negaciones complejas que el modelo no capta.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Have</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to</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perform</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work</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outside</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SLA</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se clasifica como positiva, pero es una queja. Falla.</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Con 2.500 reseñas, un 23% de casos discordantes no cambia el resultado agregado, porque se distribuye por igual entre empresas.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Este es el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slide</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central del análisis. </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Miren el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heatmap</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Cada fila es una empresa, cada columna una categoría de negocio. El azul significa que la categoría domina en pros, el rojo que domina en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cons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(señalar la fila de DB)</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Deutsche Bank tiene una fortaleza clara: cultura y ambiente. Es la categoría donde más menciona pros y menos menciona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cons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con un margen de más de 10 puntos sobre la media de sus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peers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Aquí DB es el mejor del grupo.</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También está mejor que la media en carga laboral y en conciliación. Son ventajas más pequeñas, pero reales.</a:t>
            </a:r>
          </a:p>
          <a:p>
            <a:pPr>
              <a:lnSpc>
                <a:spcPct val="107000"/>
              </a:lnSpc>
              <a:spcAft>
                <a:spcPts val="800"/>
              </a:spcAft>
            </a:pPr>
            <a:endParaRPr lang="es-E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b="1" kern="100" dirty="0">
                <a:effectLst/>
                <a:latin typeface="Calibri" panose="020F0502020204030204" pitchFamily="34" charset="0"/>
                <a:ea typeface="Calibri" panose="020F0502020204030204" pitchFamily="34" charset="0"/>
                <a:cs typeface="Times New Roman" panose="02020603050405020304" pitchFamily="18" charset="0"/>
              </a:rPr>
              <a:t>En el lado negativo, la historia es muy distinta</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Compensación y beneficios es la debilidad principal: DB está 14 puntos por debajo de sus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peers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Es el peor del grupo en esta categoría con diferencia. La brecha con el siguiente es enorme.</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Hay dos debilidades más, menores pero visibles: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management</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y dirección, tres puntos por debajo; y marca y reputación, un punto por debajo.</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Fíjense en algo curioso</a:t>
            </a:r>
            <a:r>
              <a:rPr lang="es-ES" sz="1800" u="sng" kern="100" dirty="0">
                <a:effectLst/>
                <a:latin typeface="Calibri" panose="020F0502020204030204" pitchFamily="34" charset="0"/>
                <a:ea typeface="Calibri" panose="020F0502020204030204" pitchFamily="34" charset="0"/>
                <a:cs typeface="Times New Roman" panose="02020603050405020304" pitchFamily="18" charset="0"/>
              </a:rPr>
              <a:t>: DB es el mejor del grupo en cultura, pero el peor en marca.</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Hay un desajuste entre lo que se vive dentro y lo que se cuenta fuera.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Con todo esto, mi recomendación para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RRHH</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son tres palancas concretas, medibles y ejecutables en 12 meses. </a:t>
            </a: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La primera, y más urgente, es compensación. Auditoría interna frente a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peers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por nivel y área. El gap es de 14 puntos, es la debilidad más grande del grupo. El KPI es claro: subir las menciones positivas de salario del 27% actual al 32% de la media de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peers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endParaRPr lang="es-E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La segunda es la marca. DB tiene un activo muy potente —la cultura— que no está explotando en su comunicación externa. Recomendamos una campaña de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employer</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branding anclada en esa fortaleza, con casos reales de empleados. El KPI: subir el % de recomendación del 41% al 47%, que es donde está la media de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peers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endParaRPr lang="es-E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La tercera es la burocracia. Los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ex-empleados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la mencionan como el motivo número uno de salida, 27% de las quejas. Recomendamos un programa de simplificación de procesos internos. El KPI: reducir las menciones de burocracia en </a:t>
            </a:r>
            <a:r>
              <a:rPr lang="es-ES" sz="1800" kern="100" dirty="0" err="1">
                <a:effectLst/>
                <a:latin typeface="Calibri" panose="020F0502020204030204" pitchFamily="34" charset="0"/>
                <a:ea typeface="Calibri" panose="020F0502020204030204" pitchFamily="34" charset="0"/>
                <a:cs typeface="Times New Roman" panose="02020603050405020304" pitchFamily="18" charset="0"/>
              </a:rPr>
              <a:t>cons</a:t>
            </a:r>
            <a:r>
              <a:rPr lang="es-ES" sz="1800" kern="100" dirty="0">
                <a:effectLst/>
                <a:latin typeface="Calibri" panose="020F0502020204030204" pitchFamily="34" charset="0"/>
                <a:ea typeface="Calibri" panose="020F0502020204030204" pitchFamily="34" charset="0"/>
                <a:cs typeface="Times New Roman" panose="02020603050405020304" pitchFamily="18" charset="0"/>
              </a:rPr>
              <a:t> del 26% actual al 22%.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Gracias. El análisis completo y reproducible está disponible en el repositorio. Quedo atento a sus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AdrianJusto-Data"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linkedin.com/in/adrian-justo-carball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33A"/>
        </a:solidFill>
        <a:effectLst/>
      </p:bgPr>
    </p:bg>
    <p:spTree>
      <p:nvGrpSpPr>
        <p:cNvPr id="1" name=""/>
        <p:cNvGrpSpPr/>
        <p:nvPr/>
      </p:nvGrpSpPr>
      <p:grpSpPr>
        <a:xfrm>
          <a:off x="0" y="0"/>
          <a:ext cx="0" cy="0"/>
          <a:chOff x="0" y="0"/>
          <a:chExt cx="0" cy="0"/>
        </a:xfrm>
      </p:grpSpPr>
      <p:sp>
        <p:nvSpPr>
          <p:cNvPr id="2" name="Rectangle 1"/>
          <p:cNvSpPr/>
          <p:nvPr/>
        </p:nvSpPr>
        <p:spPr>
          <a:xfrm>
            <a:off x="640080" y="1005840"/>
            <a:ext cx="1234440" cy="41148"/>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298448"/>
            <a:ext cx="6858000" cy="597087"/>
          </a:xfrm>
          <a:prstGeom prst="rect">
            <a:avLst/>
          </a:prstGeom>
          <a:noFill/>
        </p:spPr>
        <p:txBody>
          <a:bodyPr wrap="square" lIns="36576" tIns="36576" rIns="36576" bIns="36576" anchor="t">
            <a:spAutoFit/>
          </a:bodyPr>
          <a:lstStyle/>
          <a:p>
            <a:pPr algn="l">
              <a:lnSpc>
                <a:spcPct val="100000"/>
              </a:lnSpc>
            </a:pPr>
            <a:r>
              <a:rPr sz="3400" b="1" dirty="0" err="1">
                <a:solidFill>
                  <a:srgbClr val="FFFFFF"/>
                </a:solidFill>
                <a:latin typeface="Aptos"/>
              </a:rPr>
              <a:t>Diagnóstico</a:t>
            </a:r>
            <a:r>
              <a:rPr sz="3400" b="1" dirty="0">
                <a:solidFill>
                  <a:srgbClr val="FFFFFF"/>
                </a:solidFill>
                <a:latin typeface="Aptos"/>
              </a:rPr>
              <a:t> de Marca</a:t>
            </a:r>
            <a:r>
              <a:rPr lang="es-MX" sz="3400" b="1" dirty="0">
                <a:solidFill>
                  <a:srgbClr val="FFFFFF"/>
                </a:solidFill>
                <a:latin typeface="Aptos"/>
              </a:rPr>
              <a:t> </a:t>
            </a:r>
            <a:r>
              <a:rPr sz="3400" b="1" dirty="0" err="1">
                <a:solidFill>
                  <a:srgbClr val="FFFFFF"/>
                </a:solidFill>
                <a:latin typeface="Aptos"/>
              </a:rPr>
              <a:t>Empleadora</a:t>
            </a:r>
            <a:endParaRPr sz="3400" b="1" dirty="0">
              <a:solidFill>
                <a:srgbClr val="FFFFFF"/>
              </a:solidFill>
              <a:latin typeface="Aptos"/>
            </a:endParaRPr>
          </a:p>
        </p:txBody>
      </p:sp>
      <p:sp>
        <p:nvSpPr>
          <p:cNvPr id="4" name="TextBox 3"/>
          <p:cNvSpPr txBox="1"/>
          <p:nvPr/>
        </p:nvSpPr>
        <p:spPr>
          <a:xfrm>
            <a:off x="640080" y="2880360"/>
            <a:ext cx="6640830" cy="689420"/>
          </a:xfrm>
          <a:prstGeom prst="rect">
            <a:avLst/>
          </a:prstGeom>
          <a:noFill/>
        </p:spPr>
        <p:txBody>
          <a:bodyPr wrap="square" lIns="36576" tIns="36576" rIns="36576" bIns="36576" anchor="t">
            <a:spAutoFit/>
          </a:bodyPr>
          <a:lstStyle/>
          <a:p>
            <a:pPr algn="l">
              <a:lnSpc>
                <a:spcPct val="100000"/>
              </a:lnSpc>
            </a:pPr>
            <a:r>
              <a:rPr sz="2000" b="0" dirty="0">
                <a:solidFill>
                  <a:srgbClr val="DAE2EB"/>
                </a:solidFill>
                <a:latin typeface="Aptos"/>
              </a:rPr>
              <a:t>Deutsche Bank vs. peers — un </a:t>
            </a:r>
            <a:r>
              <a:rPr sz="2000" b="0" dirty="0" err="1">
                <a:solidFill>
                  <a:srgbClr val="DAE2EB"/>
                </a:solidFill>
                <a:latin typeface="Aptos"/>
              </a:rPr>
              <a:t>análisis</a:t>
            </a:r>
            <a:r>
              <a:rPr sz="2000" b="0" dirty="0">
                <a:solidFill>
                  <a:srgbClr val="DAE2EB"/>
                </a:solidFill>
                <a:latin typeface="Aptos"/>
              </a:rPr>
              <a:t> de NLP </a:t>
            </a:r>
            <a:r>
              <a:rPr sz="2000" b="0" dirty="0" err="1">
                <a:solidFill>
                  <a:srgbClr val="DAE2EB"/>
                </a:solidFill>
                <a:latin typeface="Aptos"/>
              </a:rPr>
              <a:t>sobre</a:t>
            </a:r>
            <a:r>
              <a:rPr sz="2000" b="0" dirty="0">
                <a:solidFill>
                  <a:srgbClr val="DAE2EB"/>
                </a:solidFill>
                <a:latin typeface="Aptos"/>
              </a:rPr>
              <a:t> 2.500 </a:t>
            </a:r>
            <a:r>
              <a:rPr sz="2000" b="0" dirty="0" err="1">
                <a:solidFill>
                  <a:srgbClr val="DAE2EB"/>
                </a:solidFill>
                <a:latin typeface="Aptos"/>
              </a:rPr>
              <a:t>reseñas</a:t>
            </a:r>
            <a:r>
              <a:rPr sz="2000" b="0" dirty="0">
                <a:solidFill>
                  <a:srgbClr val="DAE2EB"/>
                </a:solidFill>
                <a:latin typeface="Aptos"/>
              </a:rPr>
              <a:t> de Glassdoor</a:t>
            </a:r>
          </a:p>
        </p:txBody>
      </p:sp>
      <p:sp>
        <p:nvSpPr>
          <p:cNvPr id="5" name="TextBox 4"/>
          <p:cNvSpPr txBox="1"/>
          <p:nvPr/>
        </p:nvSpPr>
        <p:spPr>
          <a:xfrm>
            <a:off x="640080" y="3886200"/>
            <a:ext cx="4400550" cy="266227"/>
          </a:xfrm>
          <a:prstGeom prst="rect">
            <a:avLst/>
          </a:prstGeom>
          <a:noFill/>
        </p:spPr>
        <p:txBody>
          <a:bodyPr wrap="square" lIns="36576" tIns="36576" rIns="36576" bIns="36576" anchor="t">
            <a:spAutoFit/>
          </a:bodyPr>
          <a:lstStyle/>
          <a:p>
            <a:pPr algn="l">
              <a:lnSpc>
                <a:spcPct val="100000"/>
              </a:lnSpc>
            </a:pPr>
            <a:r>
              <a:rPr sz="1250" b="1">
                <a:solidFill>
                  <a:srgbClr val="B0C2D5"/>
                </a:solidFill>
                <a:latin typeface="Aptos"/>
              </a:rPr>
              <a:t>2.500 reseñas  ·  5 bancos  ·  Sentimiento + Topic Modeling</a:t>
            </a:r>
          </a:p>
        </p:txBody>
      </p:sp>
      <p:cxnSp>
        <p:nvCxnSpPr>
          <p:cNvPr id="6" name="Connector 5"/>
          <p:cNvCxnSpPr>
            <a:cxnSpLocks/>
          </p:cNvCxnSpPr>
          <p:nvPr/>
        </p:nvCxnSpPr>
        <p:spPr>
          <a:xfrm>
            <a:off x="640080" y="5138928"/>
            <a:ext cx="5580000" cy="0"/>
          </a:xfrm>
          <a:prstGeom prst="line">
            <a:avLst/>
          </a:prstGeom>
          <a:ln w="12700">
            <a:solidFill>
              <a:srgbClr val="3E546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5349240"/>
            <a:ext cx="5486400" cy="320040"/>
          </a:xfrm>
          <a:prstGeom prst="rect">
            <a:avLst/>
          </a:prstGeom>
          <a:noFill/>
        </p:spPr>
        <p:txBody>
          <a:bodyPr wrap="square" lIns="36576" tIns="36576" rIns="36576" bIns="36576" anchor="t">
            <a:spAutoFit/>
          </a:bodyPr>
          <a:lstStyle/>
          <a:p>
            <a:pPr algn="l">
              <a:lnSpc>
                <a:spcPct val="100000"/>
              </a:lnSpc>
            </a:pPr>
            <a:r>
              <a:rPr sz="1100" b="1">
                <a:solidFill>
                  <a:srgbClr val="FFFFFF"/>
                </a:solidFill>
                <a:latin typeface="Aptos"/>
              </a:rPr>
              <a:t>Adrian Justo Carballal · Octubre 2025</a:t>
            </a:r>
          </a:p>
        </p:txBody>
      </p:sp>
      <p:sp>
        <p:nvSpPr>
          <p:cNvPr id="8" name="TextBox 7"/>
          <p:cNvSpPr txBox="1"/>
          <p:nvPr/>
        </p:nvSpPr>
        <p:spPr>
          <a:xfrm>
            <a:off x="640080" y="5687568"/>
            <a:ext cx="6858000" cy="320040"/>
          </a:xfrm>
          <a:prstGeom prst="rect">
            <a:avLst/>
          </a:prstGeom>
          <a:noFill/>
        </p:spPr>
        <p:txBody>
          <a:bodyPr wrap="square" lIns="36576" tIns="36576" rIns="36576" bIns="36576" anchor="t">
            <a:spAutoFit/>
          </a:bodyPr>
          <a:lstStyle/>
          <a:p>
            <a:pPr algn="l">
              <a:lnSpc>
                <a:spcPct val="100000"/>
              </a:lnSpc>
            </a:pPr>
            <a:r>
              <a:rPr sz="1050" b="0">
                <a:solidFill>
                  <a:srgbClr val="B0C2D5"/>
                </a:solidFill>
                <a:latin typeface="Aptos"/>
              </a:rPr>
              <a:t>Proyecto de NLP aplicado a Recursos Humanos</a:t>
            </a:r>
          </a:p>
        </p:txBody>
      </p:sp>
      <p:sp>
        <p:nvSpPr>
          <p:cNvPr id="9" name="TextBox 8"/>
          <p:cNvSpPr txBox="1"/>
          <p:nvPr/>
        </p:nvSpPr>
        <p:spPr>
          <a:xfrm>
            <a:off x="640080" y="6519672"/>
            <a:ext cx="7315200" cy="182880"/>
          </a:xfrm>
          <a:prstGeom prst="rect">
            <a:avLst/>
          </a:prstGeom>
          <a:noFill/>
        </p:spPr>
        <p:txBody>
          <a:bodyPr wrap="square" lIns="36576" tIns="36576" rIns="36576" bIns="36576" anchor="t">
            <a:spAutoFit/>
          </a:bodyPr>
          <a:lstStyle/>
          <a:p>
            <a:pPr algn="l">
              <a:lnSpc>
                <a:spcPct val="100000"/>
              </a:lnSpc>
            </a:pPr>
            <a:r>
              <a:rPr sz="750" b="0">
                <a:solidFill>
                  <a:srgbClr val="9AACC1"/>
                </a:solidFill>
                <a:latin typeface="Aptos"/>
              </a:rPr>
              <a:t>Fuente: Glassdoor Job Reviews 1+2 (Kaggle) · 2018–2023</a:t>
            </a:r>
          </a:p>
        </p:txBody>
      </p:sp>
      <p:sp>
        <p:nvSpPr>
          <p:cNvPr id="16" name="Diagrama de flujo: datos 15">
            <a:extLst>
              <a:ext uri="{FF2B5EF4-FFF2-40B4-BE49-F238E27FC236}">
                <a16:creationId xmlns:a16="http://schemas.microsoft.com/office/drawing/2014/main" id="{3CA249ED-046B-2090-0E7F-05F4B232F9AE}"/>
              </a:ext>
            </a:extLst>
          </p:cNvPr>
          <p:cNvSpPr/>
          <p:nvPr/>
        </p:nvSpPr>
        <p:spPr>
          <a:xfrm>
            <a:off x="8810956" y="3532392"/>
            <a:ext cx="492277" cy="3325608"/>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464 w 10000"/>
              <a:gd name="connsiteY1" fmla="*/ 721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464" y="721"/>
                </a:lnTo>
                <a:lnTo>
                  <a:pt x="10000" y="0"/>
                </a:lnTo>
                <a:lnTo>
                  <a:pt x="8000" y="10000"/>
                </a:lnTo>
                <a:lnTo>
                  <a:pt x="0" y="10000"/>
                </a:lnTo>
                <a:close/>
              </a:path>
            </a:pathLst>
          </a:custGeom>
          <a:blipFill>
            <a:blip r:embed="rId3"/>
            <a:tile tx="0" ty="0" sx="100000" sy="100000" flip="none" algn="tl"/>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7" name="Diagrama de flujo: datos 15">
            <a:extLst>
              <a:ext uri="{FF2B5EF4-FFF2-40B4-BE49-F238E27FC236}">
                <a16:creationId xmlns:a16="http://schemas.microsoft.com/office/drawing/2014/main" id="{38122445-ECD5-4345-C30F-7143BA526C73}"/>
              </a:ext>
            </a:extLst>
          </p:cNvPr>
          <p:cNvSpPr/>
          <p:nvPr/>
        </p:nvSpPr>
        <p:spPr>
          <a:xfrm>
            <a:off x="9404529" y="3131820"/>
            <a:ext cx="492277" cy="372618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464 w 10000"/>
              <a:gd name="connsiteY1" fmla="*/ 721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464" y="721"/>
                </a:lnTo>
                <a:lnTo>
                  <a:pt x="10000" y="0"/>
                </a:lnTo>
                <a:lnTo>
                  <a:pt x="8000" y="10000"/>
                </a:lnTo>
                <a:lnTo>
                  <a:pt x="0" y="10000"/>
                </a:lnTo>
                <a:close/>
              </a:path>
            </a:pathLst>
          </a:custGeom>
          <a:blipFill>
            <a:blip r:embed="rId3"/>
            <a:tile tx="0" ty="0" sx="100000" sy="100000" flip="none" algn="tl"/>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8" name="Diagrama de flujo: datos 15">
            <a:extLst>
              <a:ext uri="{FF2B5EF4-FFF2-40B4-BE49-F238E27FC236}">
                <a16:creationId xmlns:a16="http://schemas.microsoft.com/office/drawing/2014/main" id="{4702277E-2681-440C-636A-7AF3E9803BB7}"/>
              </a:ext>
            </a:extLst>
          </p:cNvPr>
          <p:cNvSpPr/>
          <p:nvPr/>
        </p:nvSpPr>
        <p:spPr>
          <a:xfrm>
            <a:off x="10049206" y="2609971"/>
            <a:ext cx="492277" cy="4248029"/>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464 w 10000"/>
              <a:gd name="connsiteY1" fmla="*/ 721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464" y="721"/>
                </a:lnTo>
                <a:lnTo>
                  <a:pt x="10000" y="0"/>
                </a:lnTo>
                <a:lnTo>
                  <a:pt x="8000" y="10000"/>
                </a:lnTo>
                <a:lnTo>
                  <a:pt x="0" y="10000"/>
                </a:lnTo>
                <a:close/>
              </a:path>
            </a:pathLst>
          </a:custGeom>
          <a:blipFill>
            <a:blip r:embed="rId3"/>
            <a:tile tx="0" ty="0" sx="100000" sy="100000" flip="none" algn="tl"/>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9" name="Diagrama de flujo: datos 15">
            <a:extLst>
              <a:ext uri="{FF2B5EF4-FFF2-40B4-BE49-F238E27FC236}">
                <a16:creationId xmlns:a16="http://schemas.microsoft.com/office/drawing/2014/main" id="{2CA4CA98-E24C-52E1-A3C0-775573A7C2E9}"/>
              </a:ext>
            </a:extLst>
          </p:cNvPr>
          <p:cNvSpPr/>
          <p:nvPr/>
        </p:nvSpPr>
        <p:spPr>
          <a:xfrm>
            <a:off x="10635221" y="2057400"/>
            <a:ext cx="492277" cy="480060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464 w 10000"/>
              <a:gd name="connsiteY1" fmla="*/ 721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464" y="721"/>
                </a:lnTo>
                <a:lnTo>
                  <a:pt x="10000" y="0"/>
                </a:lnTo>
                <a:lnTo>
                  <a:pt x="8000" y="10000"/>
                </a:lnTo>
                <a:lnTo>
                  <a:pt x="0" y="10000"/>
                </a:lnTo>
                <a:close/>
              </a:path>
            </a:pathLst>
          </a:custGeom>
          <a:blipFill>
            <a:blip r:embed="rId3"/>
            <a:tile tx="0" ty="0" sx="100000" sy="100000" flip="none" algn="tl"/>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0" name="Diagrama de flujo: datos 15">
            <a:extLst>
              <a:ext uri="{FF2B5EF4-FFF2-40B4-BE49-F238E27FC236}">
                <a16:creationId xmlns:a16="http://schemas.microsoft.com/office/drawing/2014/main" id="{43A31D95-14CD-85F3-D244-549239E8B044}"/>
              </a:ext>
            </a:extLst>
          </p:cNvPr>
          <p:cNvSpPr/>
          <p:nvPr/>
        </p:nvSpPr>
        <p:spPr>
          <a:xfrm>
            <a:off x="11176991" y="1554480"/>
            <a:ext cx="492277" cy="530352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464 w 10000"/>
              <a:gd name="connsiteY1" fmla="*/ 721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464" y="721"/>
                </a:lnTo>
                <a:lnTo>
                  <a:pt x="10000" y="0"/>
                </a:lnTo>
                <a:lnTo>
                  <a:pt x="8000" y="10000"/>
                </a:lnTo>
                <a:lnTo>
                  <a:pt x="0" y="10000"/>
                </a:lnTo>
                <a:close/>
              </a:path>
            </a:pathLst>
          </a:cu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81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1" name="Diagrama de flujo: datos 15">
            <a:extLst>
              <a:ext uri="{FF2B5EF4-FFF2-40B4-BE49-F238E27FC236}">
                <a16:creationId xmlns:a16="http://schemas.microsoft.com/office/drawing/2014/main" id="{632E1480-F514-EB4E-D54D-144D120AD9E9}"/>
              </a:ext>
            </a:extLst>
          </p:cNvPr>
          <p:cNvSpPr/>
          <p:nvPr/>
        </p:nvSpPr>
        <p:spPr>
          <a:xfrm>
            <a:off x="8184926" y="3931920"/>
            <a:ext cx="492277" cy="2926079"/>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464 w 10000"/>
              <a:gd name="connsiteY1" fmla="*/ 721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464" y="721"/>
                </a:lnTo>
                <a:lnTo>
                  <a:pt x="10000" y="0"/>
                </a:lnTo>
                <a:lnTo>
                  <a:pt x="8000" y="10000"/>
                </a:lnTo>
                <a:lnTo>
                  <a:pt x="0" y="10000"/>
                </a:lnTo>
                <a:close/>
              </a:path>
            </a:pathLst>
          </a:custGeom>
          <a:blipFill>
            <a:blip r:embed="rId3"/>
            <a:tile tx="0" ty="0" sx="100000" sy="100000" flip="none" algn="tl"/>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2" name="Diagrama de flujo: datos 15">
            <a:extLst>
              <a:ext uri="{FF2B5EF4-FFF2-40B4-BE49-F238E27FC236}">
                <a16:creationId xmlns:a16="http://schemas.microsoft.com/office/drawing/2014/main" id="{74E25B36-B5F3-BA4D-0433-E945BBF28558}"/>
              </a:ext>
            </a:extLst>
          </p:cNvPr>
          <p:cNvSpPr/>
          <p:nvPr/>
        </p:nvSpPr>
        <p:spPr>
          <a:xfrm>
            <a:off x="7560681" y="4251962"/>
            <a:ext cx="492277" cy="260603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464 w 10000"/>
              <a:gd name="connsiteY1" fmla="*/ 721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464" y="721"/>
                </a:lnTo>
                <a:lnTo>
                  <a:pt x="10000" y="0"/>
                </a:lnTo>
                <a:lnTo>
                  <a:pt x="8000" y="10000"/>
                </a:lnTo>
                <a:lnTo>
                  <a:pt x="0" y="10000"/>
                </a:lnTo>
                <a:close/>
              </a:path>
            </a:pathLst>
          </a:custGeom>
          <a:blipFill>
            <a:blip r:embed="rId3"/>
            <a:tile tx="0" ty="0" sx="100000" sy="100000" flip="none" algn="tl"/>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3" name="Diagrama de flujo: datos 15">
            <a:extLst>
              <a:ext uri="{FF2B5EF4-FFF2-40B4-BE49-F238E27FC236}">
                <a16:creationId xmlns:a16="http://schemas.microsoft.com/office/drawing/2014/main" id="{CA4690DE-57D4-B60D-A6EA-4EB424F65D0E}"/>
              </a:ext>
            </a:extLst>
          </p:cNvPr>
          <p:cNvSpPr/>
          <p:nvPr/>
        </p:nvSpPr>
        <p:spPr>
          <a:xfrm>
            <a:off x="6954259" y="4617721"/>
            <a:ext cx="492277" cy="224027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464 w 10000"/>
              <a:gd name="connsiteY1" fmla="*/ 721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464" y="721"/>
                </a:lnTo>
                <a:lnTo>
                  <a:pt x="10000" y="0"/>
                </a:lnTo>
                <a:lnTo>
                  <a:pt x="8000" y="10000"/>
                </a:lnTo>
                <a:lnTo>
                  <a:pt x="0" y="10000"/>
                </a:lnTo>
                <a:close/>
              </a:path>
            </a:pathLst>
          </a:custGeom>
          <a:blipFill>
            <a:blip r:embed="rId3"/>
            <a:tile tx="0" ty="0" sx="100000" sy="100000" flip="none" algn="tl"/>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4" name="Diagrama de flujo: datos 15">
            <a:extLst>
              <a:ext uri="{FF2B5EF4-FFF2-40B4-BE49-F238E27FC236}">
                <a16:creationId xmlns:a16="http://schemas.microsoft.com/office/drawing/2014/main" id="{9CB07569-9AC0-38C8-06FF-F095B608B1B8}"/>
              </a:ext>
            </a:extLst>
          </p:cNvPr>
          <p:cNvSpPr/>
          <p:nvPr/>
        </p:nvSpPr>
        <p:spPr>
          <a:xfrm>
            <a:off x="6294231" y="4892042"/>
            <a:ext cx="492277" cy="196475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464 w 10000"/>
              <a:gd name="connsiteY1" fmla="*/ 721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464" y="721"/>
                </a:lnTo>
                <a:lnTo>
                  <a:pt x="10000" y="0"/>
                </a:lnTo>
                <a:lnTo>
                  <a:pt x="8000" y="10000"/>
                </a:lnTo>
                <a:lnTo>
                  <a:pt x="0" y="10000"/>
                </a:lnTo>
                <a:close/>
              </a:path>
            </a:pathLst>
          </a:custGeom>
          <a:blipFill>
            <a:blip r:embed="rId3"/>
            <a:tile tx="0" ty="0" sx="100000" sy="100000" flip="none" algn="tl"/>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5" name="Diagrama de flujo: datos 15">
            <a:extLst>
              <a:ext uri="{FF2B5EF4-FFF2-40B4-BE49-F238E27FC236}">
                <a16:creationId xmlns:a16="http://schemas.microsoft.com/office/drawing/2014/main" id="{9A953E5A-1FC1-8CA0-A1B6-97CDEEE9F591}"/>
              </a:ext>
            </a:extLst>
          </p:cNvPr>
          <p:cNvSpPr/>
          <p:nvPr/>
        </p:nvSpPr>
        <p:spPr>
          <a:xfrm>
            <a:off x="11692128" y="1046988"/>
            <a:ext cx="492277" cy="581101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0000"/>
              <a:gd name="connsiteY0" fmla="*/ 10000 h 10000"/>
              <a:gd name="connsiteX1" fmla="*/ 2464 w 10000"/>
              <a:gd name="connsiteY1" fmla="*/ 721 h 10000"/>
              <a:gd name="connsiteX2" fmla="*/ 10000 w 10000"/>
              <a:gd name="connsiteY2" fmla="*/ 0 h 10000"/>
              <a:gd name="connsiteX3" fmla="*/ 8000 w 10000"/>
              <a:gd name="connsiteY3" fmla="*/ 10000 h 10000"/>
              <a:gd name="connsiteX4" fmla="*/ 0 w 1000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10000"/>
                </a:moveTo>
                <a:lnTo>
                  <a:pt x="2464" y="721"/>
                </a:lnTo>
                <a:lnTo>
                  <a:pt x="10000" y="0"/>
                </a:lnTo>
                <a:lnTo>
                  <a:pt x="8000" y="10000"/>
                </a:lnTo>
                <a:lnTo>
                  <a:pt x="0" y="10000"/>
                </a:lnTo>
                <a:close/>
              </a:path>
            </a:pathLst>
          </a:custGeom>
          <a:blipFill>
            <a:blip r:embed="rId3"/>
            <a:tile tx="0" ty="0" sx="100000" sy="100000" flip="none" algn="tl"/>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8275320" cy="458587"/>
          </a:xfrm>
          <a:prstGeom prst="rect">
            <a:avLst/>
          </a:prstGeom>
          <a:noFill/>
        </p:spPr>
        <p:txBody>
          <a:bodyPr wrap="square" lIns="36576" tIns="36576" rIns="36576" bIns="36576" anchor="t">
            <a:spAutoFit/>
          </a:bodyPr>
          <a:lstStyle/>
          <a:p>
            <a:pPr algn="l">
              <a:lnSpc>
                <a:spcPct val="100000"/>
              </a:lnSpc>
            </a:pPr>
            <a:r>
              <a:rPr sz="2500" b="1" dirty="0">
                <a:solidFill>
                  <a:srgbClr val="13233A"/>
                </a:solidFill>
                <a:latin typeface="Aptos"/>
              </a:rPr>
              <a:t>El </a:t>
            </a:r>
            <a:r>
              <a:rPr sz="2500" b="1" dirty="0" err="1">
                <a:solidFill>
                  <a:srgbClr val="13233A"/>
                </a:solidFill>
                <a:latin typeface="Aptos"/>
              </a:rPr>
              <a:t>encargo</a:t>
            </a:r>
            <a:r>
              <a:rPr sz="2500" b="1" dirty="0">
                <a:solidFill>
                  <a:srgbClr val="13233A"/>
                </a:solidFill>
                <a:latin typeface="Aptos"/>
              </a:rPr>
              <a:t>: ¿</a:t>
            </a:r>
            <a:r>
              <a:rPr sz="2500" b="1" dirty="0" err="1">
                <a:solidFill>
                  <a:srgbClr val="13233A"/>
                </a:solidFill>
                <a:latin typeface="Aptos"/>
              </a:rPr>
              <a:t>dónde</a:t>
            </a:r>
            <a:r>
              <a:rPr sz="2500" b="1" dirty="0">
                <a:solidFill>
                  <a:srgbClr val="13233A"/>
                </a:solidFill>
                <a:latin typeface="Aptos"/>
              </a:rPr>
              <a:t> </a:t>
            </a:r>
            <a:r>
              <a:rPr sz="2500" b="1" dirty="0" err="1">
                <a:solidFill>
                  <a:srgbClr val="13233A"/>
                </a:solidFill>
                <a:latin typeface="Aptos"/>
              </a:rPr>
              <a:t>invertir</a:t>
            </a:r>
            <a:r>
              <a:rPr sz="2500" b="1" dirty="0">
                <a:solidFill>
                  <a:srgbClr val="13233A"/>
                </a:solidFill>
                <a:latin typeface="Aptos"/>
              </a:rPr>
              <a:t> para </a:t>
            </a:r>
            <a:r>
              <a:rPr sz="2500" b="1" dirty="0" err="1">
                <a:solidFill>
                  <a:srgbClr val="13233A"/>
                </a:solidFill>
                <a:latin typeface="Aptos"/>
              </a:rPr>
              <a:t>retener</a:t>
            </a:r>
            <a:r>
              <a:rPr sz="2500" b="1" dirty="0">
                <a:solidFill>
                  <a:srgbClr val="13233A"/>
                </a:solidFill>
                <a:latin typeface="Aptos"/>
              </a:rPr>
              <a:t> y </a:t>
            </a:r>
            <a:r>
              <a:rPr sz="2500" b="1" dirty="0" err="1">
                <a:solidFill>
                  <a:srgbClr val="13233A"/>
                </a:solidFill>
                <a:latin typeface="Aptos"/>
              </a:rPr>
              <a:t>atraer</a:t>
            </a:r>
            <a:r>
              <a:rPr sz="2500" b="1" dirty="0">
                <a:solidFill>
                  <a:srgbClr val="13233A"/>
                </a:solidFill>
                <a:latin typeface="Aptos"/>
              </a:rPr>
              <a:t> </a:t>
            </a:r>
            <a:r>
              <a:rPr sz="2500" b="1" dirty="0" err="1">
                <a:solidFill>
                  <a:srgbClr val="13233A"/>
                </a:solidFill>
                <a:latin typeface="Aptos"/>
              </a:rPr>
              <a:t>talento</a:t>
            </a:r>
            <a:r>
              <a:rPr sz="2500" b="1" dirty="0">
                <a:solidFill>
                  <a:srgbClr val="13233A"/>
                </a:solidFill>
                <a:latin typeface="Aptos"/>
              </a:rPr>
              <a:t>?</a:t>
            </a:r>
          </a:p>
        </p:txBody>
      </p:sp>
      <p:sp>
        <p:nvSpPr>
          <p:cNvPr id="3" name="Rectangle 2"/>
          <p:cNvSpPr/>
          <p:nvPr/>
        </p:nvSpPr>
        <p:spPr>
          <a:xfrm>
            <a:off x="548640" y="896112"/>
            <a:ext cx="1051560" cy="32004"/>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188720"/>
            <a:ext cx="4663440" cy="4892040"/>
          </a:xfrm>
          <a:prstGeom prst="roundRect">
            <a:avLst>
              <a:gd name="adj" fmla="val 8000"/>
            </a:avLst>
          </a:prstGeom>
          <a:solidFill>
            <a:srgbClr val="F6F7F9"/>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481328"/>
            <a:ext cx="3200400" cy="274320"/>
          </a:xfrm>
          <a:prstGeom prst="rect">
            <a:avLst/>
          </a:prstGeom>
          <a:noFill/>
        </p:spPr>
        <p:txBody>
          <a:bodyPr wrap="square" lIns="36576" tIns="36576" rIns="36576" bIns="36576" anchor="t">
            <a:spAutoFit/>
          </a:bodyPr>
          <a:lstStyle/>
          <a:p>
            <a:pPr algn="l">
              <a:lnSpc>
                <a:spcPct val="100000"/>
              </a:lnSpc>
            </a:pPr>
            <a:r>
              <a:rPr sz="900" b="1">
                <a:solidFill>
                  <a:srgbClr val="1F77B4"/>
                </a:solidFill>
                <a:latin typeface="Aptos"/>
              </a:rPr>
              <a:t>PREGUNTA DE NEGOCIO</a:t>
            </a:r>
          </a:p>
        </p:txBody>
      </p:sp>
      <p:sp>
        <p:nvSpPr>
          <p:cNvPr id="7" name="TextBox 6"/>
          <p:cNvSpPr txBox="1"/>
          <p:nvPr/>
        </p:nvSpPr>
        <p:spPr>
          <a:xfrm>
            <a:off x="822960" y="1874519"/>
            <a:ext cx="3977639" cy="1920240"/>
          </a:xfrm>
          <a:prstGeom prst="rect">
            <a:avLst/>
          </a:prstGeom>
          <a:noFill/>
        </p:spPr>
        <p:txBody>
          <a:bodyPr wrap="square" lIns="36576" tIns="36576" rIns="36576" bIns="36576" anchor="ctr">
            <a:spAutoFit/>
          </a:bodyPr>
          <a:lstStyle/>
          <a:p>
            <a:pPr algn="l">
              <a:lnSpc>
                <a:spcPct val="100000"/>
              </a:lnSpc>
            </a:pPr>
            <a:r>
              <a:rPr sz="1900" b="1">
                <a:solidFill>
                  <a:srgbClr val="13233A"/>
                </a:solidFill>
                <a:latin typeface="Aptos"/>
              </a:rPr>
              <a:t>Deutsche Bank quiere saber en qué palancas invertir para mejorar su marca como empleador, comparándose con sus competidores directos.</a:t>
            </a:r>
          </a:p>
        </p:txBody>
      </p:sp>
      <p:sp>
        <p:nvSpPr>
          <p:cNvPr id="8" name="TextBox 7"/>
          <p:cNvSpPr txBox="1"/>
          <p:nvPr/>
        </p:nvSpPr>
        <p:spPr>
          <a:xfrm>
            <a:off x="822960" y="4343400"/>
            <a:ext cx="2011680" cy="274320"/>
          </a:xfrm>
          <a:prstGeom prst="rect">
            <a:avLst/>
          </a:prstGeom>
          <a:noFill/>
        </p:spPr>
        <p:txBody>
          <a:bodyPr wrap="square" lIns="36576" tIns="36576" rIns="36576" bIns="36576" anchor="t">
            <a:spAutoFit/>
          </a:bodyPr>
          <a:lstStyle/>
          <a:p>
            <a:pPr algn="l">
              <a:lnSpc>
                <a:spcPct val="100000"/>
              </a:lnSpc>
            </a:pPr>
            <a:r>
              <a:rPr sz="900" b="1">
                <a:solidFill>
                  <a:srgbClr val="66707A"/>
                </a:solidFill>
                <a:latin typeface="Aptos"/>
              </a:rPr>
              <a:t>Objetivo analítico</a:t>
            </a:r>
          </a:p>
        </p:txBody>
      </p:sp>
      <p:sp>
        <p:nvSpPr>
          <p:cNvPr id="9" name="TextBox 8"/>
          <p:cNvSpPr txBox="1"/>
          <p:nvPr/>
        </p:nvSpPr>
        <p:spPr>
          <a:xfrm>
            <a:off x="822960" y="4645152"/>
            <a:ext cx="3977639" cy="822960"/>
          </a:xfrm>
          <a:prstGeom prst="rect">
            <a:avLst/>
          </a:prstGeom>
          <a:noFill/>
        </p:spPr>
        <p:txBody>
          <a:bodyPr wrap="square" lIns="36576" tIns="36576" rIns="36576" bIns="36576" anchor="t">
            <a:spAutoFit/>
          </a:bodyPr>
          <a:lstStyle/>
          <a:p>
            <a:pPr algn="l">
              <a:lnSpc>
                <a:spcPct val="100000"/>
              </a:lnSpc>
            </a:pPr>
            <a:r>
              <a:rPr sz="1500" b="0">
                <a:solidFill>
                  <a:srgbClr val="242B32"/>
                </a:solidFill>
                <a:latin typeface="Aptos"/>
              </a:rPr>
              <a:t>Detectar gaps relativos y convertirlos en prioridades accionables para RRHH.</a:t>
            </a:r>
          </a:p>
        </p:txBody>
      </p:sp>
      <p:sp>
        <p:nvSpPr>
          <p:cNvPr id="10" name="Rounded Rectangle 9"/>
          <p:cNvSpPr/>
          <p:nvPr/>
        </p:nvSpPr>
        <p:spPr>
          <a:xfrm>
            <a:off x="5440680" y="1188720"/>
            <a:ext cx="6190488" cy="4892040"/>
          </a:xfrm>
          <a:prstGeom prst="roundRect">
            <a:avLst>
              <a:gd name="adj" fmla="val 8000"/>
            </a:avLst>
          </a:prstGeom>
          <a:solidFill>
            <a:srgbClr val="FFFFFF"/>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15000" y="1481328"/>
            <a:ext cx="1387764" cy="212366"/>
          </a:xfrm>
          <a:prstGeom prst="rect">
            <a:avLst/>
          </a:prstGeom>
          <a:noFill/>
        </p:spPr>
        <p:txBody>
          <a:bodyPr wrap="square" lIns="36576" tIns="36576" rIns="36576" bIns="36576" anchor="t">
            <a:spAutoFit/>
          </a:bodyPr>
          <a:lstStyle/>
          <a:p>
            <a:pPr algn="l">
              <a:lnSpc>
                <a:spcPct val="100000"/>
              </a:lnSpc>
            </a:pPr>
            <a:r>
              <a:rPr sz="900" b="1" dirty="0">
                <a:solidFill>
                  <a:srgbClr val="1F77B4"/>
                </a:solidFill>
                <a:latin typeface="Aptos"/>
              </a:rPr>
              <a:t>PEERS </a:t>
            </a:r>
            <a:r>
              <a:rPr sz="900" b="1" dirty="0" err="1">
                <a:solidFill>
                  <a:srgbClr val="1F77B4"/>
                </a:solidFill>
                <a:latin typeface="Aptos"/>
              </a:rPr>
              <a:t>ELEGIDOS</a:t>
            </a:r>
            <a:endParaRPr sz="900" b="1" dirty="0">
              <a:solidFill>
                <a:srgbClr val="1F77B4"/>
              </a:solidFill>
              <a:latin typeface="Aptos"/>
            </a:endParaRPr>
          </a:p>
        </p:txBody>
      </p:sp>
      <p:sp>
        <p:nvSpPr>
          <p:cNvPr id="12" name="Rounded Rectangle 11"/>
          <p:cNvSpPr/>
          <p:nvPr/>
        </p:nvSpPr>
        <p:spPr>
          <a:xfrm>
            <a:off x="5650992" y="1801367"/>
            <a:ext cx="5669280" cy="658368"/>
          </a:xfrm>
          <a:prstGeom prst="roundRect">
            <a:avLst>
              <a:gd name="adj" fmla="val 8000"/>
            </a:avLst>
          </a:prstGeom>
          <a:solidFill>
            <a:srgbClr val="E8F1F9"/>
          </a:solidFill>
          <a:ln>
            <a:solidFill>
              <a:srgbClr val="E8F1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06440" y="1856047"/>
            <a:ext cx="1965960" cy="320040"/>
          </a:xfrm>
          <a:prstGeom prst="rect">
            <a:avLst/>
          </a:prstGeom>
          <a:noFill/>
        </p:spPr>
        <p:txBody>
          <a:bodyPr wrap="square" lIns="36576" tIns="36576" rIns="36576" bIns="36576" anchor="t">
            <a:spAutoFit/>
          </a:bodyPr>
          <a:lstStyle/>
          <a:p>
            <a:pPr algn="l">
              <a:lnSpc>
                <a:spcPct val="100000"/>
              </a:lnSpc>
            </a:pPr>
            <a:r>
              <a:rPr sz="1350" b="1">
                <a:solidFill>
                  <a:srgbClr val="13233A"/>
                </a:solidFill>
                <a:latin typeface="Aptos"/>
              </a:rPr>
              <a:t>Deutsche Bank</a:t>
            </a:r>
          </a:p>
        </p:txBody>
      </p:sp>
      <p:sp>
        <p:nvSpPr>
          <p:cNvPr id="14" name="TextBox 13"/>
          <p:cNvSpPr txBox="1"/>
          <p:nvPr/>
        </p:nvSpPr>
        <p:spPr>
          <a:xfrm>
            <a:off x="8451270" y="1856047"/>
            <a:ext cx="2832793" cy="535531"/>
          </a:xfrm>
          <a:prstGeom prst="rect">
            <a:avLst/>
          </a:prstGeom>
          <a:noFill/>
        </p:spPr>
        <p:txBody>
          <a:bodyPr wrap="square" lIns="36576" tIns="36576" rIns="36576" bIns="36576" anchor="t">
            <a:spAutoFit/>
          </a:bodyPr>
          <a:lstStyle/>
          <a:p>
            <a:pPr algn="l">
              <a:lnSpc>
                <a:spcPct val="100000"/>
              </a:lnSpc>
            </a:pPr>
            <a:r>
              <a:rPr lang="es-MX" sz="1000" b="0" dirty="0">
                <a:solidFill>
                  <a:srgbClr val="66707A"/>
                </a:solidFill>
                <a:latin typeface="Aptos"/>
              </a:rPr>
              <a:t>El principal banco alemán; su núcleo fuerte es la banca corporativa europea y la negociación de renta fija.</a:t>
            </a:r>
            <a:endParaRPr lang="es-ES" sz="1000" b="0" dirty="0">
              <a:solidFill>
                <a:srgbClr val="66707A"/>
              </a:solidFill>
              <a:latin typeface="Aptos"/>
            </a:endParaRPr>
          </a:p>
        </p:txBody>
      </p:sp>
      <p:cxnSp>
        <p:nvCxnSpPr>
          <p:cNvPr id="15" name="Connector 14"/>
          <p:cNvCxnSpPr/>
          <p:nvPr/>
        </p:nvCxnSpPr>
        <p:spPr>
          <a:xfrm>
            <a:off x="5806440" y="2386584"/>
            <a:ext cx="5440680" cy="0"/>
          </a:xfrm>
          <a:prstGeom prst="line">
            <a:avLst/>
          </a:prstGeom>
          <a:ln w="7620">
            <a:solidFill>
              <a:srgbClr val="E0E4E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06440" y="2572889"/>
            <a:ext cx="1965960" cy="320040"/>
          </a:xfrm>
          <a:prstGeom prst="rect">
            <a:avLst/>
          </a:prstGeom>
          <a:noFill/>
        </p:spPr>
        <p:txBody>
          <a:bodyPr wrap="square" lIns="36576" tIns="36576" rIns="36576" bIns="36576" anchor="t">
            <a:spAutoFit/>
          </a:bodyPr>
          <a:lstStyle/>
          <a:p>
            <a:pPr algn="l">
              <a:lnSpc>
                <a:spcPct val="100000"/>
              </a:lnSpc>
            </a:pPr>
            <a:r>
              <a:rPr sz="1350" b="1">
                <a:solidFill>
                  <a:srgbClr val="242B32"/>
                </a:solidFill>
                <a:latin typeface="Aptos"/>
              </a:rPr>
              <a:t>J-P-Morgan</a:t>
            </a:r>
          </a:p>
        </p:txBody>
      </p:sp>
      <p:sp>
        <p:nvSpPr>
          <p:cNvPr id="17" name="TextBox 16"/>
          <p:cNvSpPr txBox="1"/>
          <p:nvPr/>
        </p:nvSpPr>
        <p:spPr>
          <a:xfrm>
            <a:off x="7265184" y="2572889"/>
            <a:ext cx="1116000" cy="258532"/>
          </a:xfrm>
          <a:prstGeom prst="rect">
            <a:avLst/>
          </a:prstGeom>
          <a:noFill/>
        </p:spPr>
        <p:txBody>
          <a:bodyPr wrap="square" lIns="36576" tIns="36576" rIns="36576" bIns="36576" anchor="t">
            <a:spAutoFit/>
          </a:bodyPr>
          <a:lstStyle/>
          <a:p>
            <a:pPr algn="l">
              <a:lnSpc>
                <a:spcPct val="100000"/>
              </a:lnSpc>
            </a:pPr>
            <a:r>
              <a:rPr lang="es-MX" sz="1200" b="0" dirty="0">
                <a:solidFill>
                  <a:srgbClr val="66707A"/>
                </a:solidFill>
                <a:latin typeface="Aptos"/>
              </a:rPr>
              <a:t>Estados Unidos</a:t>
            </a:r>
          </a:p>
        </p:txBody>
      </p:sp>
      <p:cxnSp>
        <p:nvCxnSpPr>
          <p:cNvPr id="18" name="Connector 17"/>
          <p:cNvCxnSpPr/>
          <p:nvPr/>
        </p:nvCxnSpPr>
        <p:spPr>
          <a:xfrm>
            <a:off x="5806440" y="3172968"/>
            <a:ext cx="5440680" cy="0"/>
          </a:xfrm>
          <a:prstGeom prst="line">
            <a:avLst/>
          </a:prstGeom>
          <a:ln w="7620">
            <a:solidFill>
              <a:srgbClr val="E0E4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806440" y="3298395"/>
            <a:ext cx="1965960" cy="320040"/>
          </a:xfrm>
          <a:prstGeom prst="rect">
            <a:avLst/>
          </a:prstGeom>
          <a:noFill/>
        </p:spPr>
        <p:txBody>
          <a:bodyPr wrap="square" lIns="36576" tIns="36576" rIns="36576" bIns="36576" anchor="t">
            <a:spAutoFit/>
          </a:bodyPr>
          <a:lstStyle/>
          <a:p>
            <a:pPr algn="l">
              <a:lnSpc>
                <a:spcPct val="100000"/>
              </a:lnSpc>
            </a:pPr>
            <a:r>
              <a:rPr sz="1350" b="1" dirty="0">
                <a:solidFill>
                  <a:srgbClr val="242B32"/>
                </a:solidFill>
                <a:latin typeface="Aptos"/>
              </a:rPr>
              <a:t>Barclays</a:t>
            </a:r>
          </a:p>
        </p:txBody>
      </p:sp>
      <p:cxnSp>
        <p:nvCxnSpPr>
          <p:cNvPr id="21" name="Connector 20"/>
          <p:cNvCxnSpPr/>
          <p:nvPr/>
        </p:nvCxnSpPr>
        <p:spPr>
          <a:xfrm>
            <a:off x="5806440" y="3959352"/>
            <a:ext cx="5440680" cy="0"/>
          </a:xfrm>
          <a:prstGeom prst="line">
            <a:avLst/>
          </a:prstGeom>
          <a:ln w="7620">
            <a:solidFill>
              <a:srgbClr val="E0E4E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06440" y="4114193"/>
            <a:ext cx="1965960" cy="320040"/>
          </a:xfrm>
          <a:prstGeom prst="rect">
            <a:avLst/>
          </a:prstGeom>
          <a:noFill/>
        </p:spPr>
        <p:txBody>
          <a:bodyPr wrap="square" lIns="36576" tIns="36576" rIns="36576" bIns="36576" anchor="t">
            <a:spAutoFit/>
          </a:bodyPr>
          <a:lstStyle/>
          <a:p>
            <a:pPr algn="l">
              <a:lnSpc>
                <a:spcPct val="100000"/>
              </a:lnSpc>
            </a:pPr>
            <a:r>
              <a:rPr sz="1350" b="1">
                <a:solidFill>
                  <a:srgbClr val="242B32"/>
                </a:solidFill>
                <a:latin typeface="Aptos"/>
              </a:rPr>
              <a:t>Citi</a:t>
            </a:r>
          </a:p>
        </p:txBody>
      </p:sp>
      <p:cxnSp>
        <p:nvCxnSpPr>
          <p:cNvPr id="24" name="Connector 23"/>
          <p:cNvCxnSpPr/>
          <p:nvPr/>
        </p:nvCxnSpPr>
        <p:spPr>
          <a:xfrm>
            <a:off x="5806440" y="4745736"/>
            <a:ext cx="5440680" cy="0"/>
          </a:xfrm>
          <a:prstGeom prst="line">
            <a:avLst/>
          </a:prstGeom>
          <a:ln w="7620">
            <a:solidFill>
              <a:srgbClr val="E0E4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806440" y="4983107"/>
            <a:ext cx="1965960" cy="320040"/>
          </a:xfrm>
          <a:prstGeom prst="rect">
            <a:avLst/>
          </a:prstGeom>
          <a:noFill/>
        </p:spPr>
        <p:txBody>
          <a:bodyPr wrap="square" lIns="36576" tIns="36576" rIns="36576" bIns="36576" anchor="t">
            <a:spAutoFit/>
          </a:bodyPr>
          <a:lstStyle/>
          <a:p>
            <a:pPr algn="l">
              <a:lnSpc>
                <a:spcPct val="100000"/>
              </a:lnSpc>
            </a:pPr>
            <a:r>
              <a:rPr sz="1350" b="1">
                <a:solidFill>
                  <a:srgbClr val="242B32"/>
                </a:solidFill>
                <a:latin typeface="Aptos"/>
              </a:rPr>
              <a:t>HSBC-Holdings</a:t>
            </a:r>
          </a:p>
        </p:txBody>
      </p:sp>
      <p:sp>
        <p:nvSpPr>
          <p:cNvPr id="26" name="TextBox 25"/>
          <p:cNvSpPr txBox="1"/>
          <p:nvPr/>
        </p:nvSpPr>
        <p:spPr>
          <a:xfrm>
            <a:off x="7265185" y="4983107"/>
            <a:ext cx="1116000" cy="261610"/>
          </a:xfrm>
          <a:prstGeom prst="rect">
            <a:avLst/>
          </a:prstGeom>
          <a:noFill/>
        </p:spPr>
        <p:txBody>
          <a:bodyPr wrap="square" lIns="36576" tIns="36576" rIns="36576" bIns="36576" anchor="t">
            <a:spAutoFit/>
          </a:bodyPr>
          <a:lstStyle/>
          <a:p>
            <a:pPr algn="l">
              <a:lnSpc>
                <a:spcPct val="100000"/>
              </a:lnSpc>
            </a:pPr>
            <a:r>
              <a:rPr lang="es-ES" sz="1220" b="0" dirty="0">
                <a:solidFill>
                  <a:srgbClr val="66707A"/>
                </a:solidFill>
                <a:latin typeface="Aptos"/>
              </a:rPr>
              <a:t>Reino Unido</a:t>
            </a:r>
          </a:p>
        </p:txBody>
      </p:sp>
      <p:sp>
        <p:nvSpPr>
          <p:cNvPr id="27" name="Rectangle 26"/>
          <p:cNvSpPr/>
          <p:nvPr/>
        </p:nvSpPr>
        <p:spPr>
          <a:xfrm>
            <a:off x="548640" y="6172200"/>
            <a:ext cx="11082528" cy="228600"/>
          </a:xfrm>
          <a:prstGeom prst="rect">
            <a:avLst/>
          </a:prstGeom>
          <a:solidFill>
            <a:srgbClr val="13233A"/>
          </a:solidFill>
          <a:ln>
            <a:solidFill>
              <a:srgbClr val="13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6190488"/>
            <a:ext cx="10744200" cy="164592"/>
          </a:xfrm>
          <a:prstGeom prst="rect">
            <a:avLst/>
          </a:prstGeom>
          <a:noFill/>
        </p:spPr>
        <p:txBody>
          <a:bodyPr wrap="square" lIns="36576" tIns="36576" rIns="36576" bIns="36576" anchor="t">
            <a:spAutoFit/>
          </a:bodyPr>
          <a:lstStyle/>
          <a:p>
            <a:pPr algn="ctr">
              <a:lnSpc>
                <a:spcPct val="100000"/>
              </a:lnSpc>
            </a:pPr>
            <a:r>
              <a:rPr sz="850" b="1">
                <a:solidFill>
                  <a:srgbClr val="FFFFFF"/>
                </a:solidFill>
                <a:latin typeface="Aptos"/>
              </a:rPr>
              <a:t>5 bancos · 5.474–14.609 reseñas disponibles por empresa · 500 seleccionadas por empresa · muestra final: 2.500</a:t>
            </a:r>
          </a:p>
        </p:txBody>
      </p:sp>
      <p:cxnSp>
        <p:nvCxnSpPr>
          <p:cNvPr id="29" name="Connector 28"/>
          <p:cNvCxnSpPr/>
          <p:nvPr/>
        </p:nvCxnSpPr>
        <p:spPr>
          <a:xfrm>
            <a:off x="548640" y="6473952"/>
            <a:ext cx="11082528" cy="0"/>
          </a:xfrm>
          <a:prstGeom prst="line">
            <a:avLst/>
          </a:prstGeom>
          <a:ln w="8890">
            <a:solidFill>
              <a:srgbClr val="E0E4E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6519672"/>
            <a:ext cx="11064240" cy="182880"/>
          </a:xfrm>
          <a:prstGeom prst="rect">
            <a:avLst/>
          </a:prstGeom>
          <a:noFill/>
        </p:spPr>
        <p:txBody>
          <a:bodyPr wrap="square" lIns="36576" tIns="36576" rIns="36576" bIns="36576" anchor="t">
            <a:spAutoFit/>
          </a:bodyPr>
          <a:lstStyle/>
          <a:p>
            <a:pPr algn="l">
              <a:lnSpc>
                <a:spcPct val="100000"/>
              </a:lnSpc>
            </a:pPr>
            <a:r>
              <a:rPr sz="750" b="0">
                <a:solidFill>
                  <a:srgbClr val="66707A"/>
                </a:solidFill>
                <a:latin typeface="Aptos"/>
              </a:rPr>
              <a:t>Fuente: Glassdoor Job Reviews 1+2 (Kaggle) · 2018–2023 · análisis propio</a:t>
            </a:r>
          </a:p>
        </p:txBody>
      </p:sp>
      <p:sp>
        <p:nvSpPr>
          <p:cNvPr id="31" name="TextBox 13">
            <a:extLst>
              <a:ext uri="{FF2B5EF4-FFF2-40B4-BE49-F238E27FC236}">
                <a16:creationId xmlns:a16="http://schemas.microsoft.com/office/drawing/2014/main" id="{02E5BB70-86F9-E367-98E6-19C68F2B6861}"/>
              </a:ext>
            </a:extLst>
          </p:cNvPr>
          <p:cNvSpPr txBox="1"/>
          <p:nvPr/>
        </p:nvSpPr>
        <p:spPr>
          <a:xfrm>
            <a:off x="5806440" y="2026919"/>
            <a:ext cx="1296324" cy="261610"/>
          </a:xfrm>
          <a:prstGeom prst="rect">
            <a:avLst/>
          </a:prstGeom>
          <a:noFill/>
        </p:spPr>
        <p:txBody>
          <a:bodyPr wrap="square" lIns="36576" tIns="36576" rIns="36576" bIns="36576" anchor="t">
            <a:spAutoFit/>
          </a:bodyPr>
          <a:lstStyle/>
          <a:p>
            <a:pPr algn="l">
              <a:lnSpc>
                <a:spcPct val="100000"/>
              </a:lnSpc>
            </a:pPr>
            <a:r>
              <a:rPr sz="1220" b="0" dirty="0" err="1">
                <a:solidFill>
                  <a:srgbClr val="66707A"/>
                </a:solidFill>
                <a:latin typeface="Aptos"/>
              </a:rPr>
              <a:t>Empresa</a:t>
            </a:r>
            <a:r>
              <a:rPr sz="1220" b="0" dirty="0">
                <a:solidFill>
                  <a:srgbClr val="66707A"/>
                </a:solidFill>
                <a:latin typeface="Aptos"/>
              </a:rPr>
              <a:t> </a:t>
            </a:r>
            <a:r>
              <a:rPr sz="1220" b="0" dirty="0" err="1">
                <a:solidFill>
                  <a:srgbClr val="66707A"/>
                </a:solidFill>
                <a:latin typeface="Aptos"/>
              </a:rPr>
              <a:t>objetivo</a:t>
            </a:r>
            <a:endParaRPr sz="1220" b="0" dirty="0">
              <a:solidFill>
                <a:srgbClr val="66707A"/>
              </a:solidFill>
              <a:latin typeface="Aptos"/>
            </a:endParaRPr>
          </a:p>
        </p:txBody>
      </p:sp>
      <p:sp>
        <p:nvSpPr>
          <p:cNvPr id="32" name="TextBox 13">
            <a:extLst>
              <a:ext uri="{FF2B5EF4-FFF2-40B4-BE49-F238E27FC236}">
                <a16:creationId xmlns:a16="http://schemas.microsoft.com/office/drawing/2014/main" id="{C93ED2D8-C369-463B-9CEB-8913B63A3C7B}"/>
              </a:ext>
            </a:extLst>
          </p:cNvPr>
          <p:cNvSpPr txBox="1"/>
          <p:nvPr/>
        </p:nvSpPr>
        <p:spPr>
          <a:xfrm>
            <a:off x="8451270" y="2572889"/>
            <a:ext cx="2832793" cy="535531"/>
          </a:xfrm>
          <a:prstGeom prst="rect">
            <a:avLst/>
          </a:prstGeom>
          <a:noFill/>
        </p:spPr>
        <p:txBody>
          <a:bodyPr wrap="square" lIns="36576" tIns="36576" rIns="36576" bIns="36576" anchor="t">
            <a:spAutoFit/>
          </a:bodyPr>
          <a:lstStyle/>
          <a:p>
            <a:pPr algn="l">
              <a:lnSpc>
                <a:spcPct val="100000"/>
              </a:lnSpc>
            </a:pPr>
            <a:r>
              <a:rPr lang="es-MX" sz="1000" b="0" dirty="0">
                <a:solidFill>
                  <a:srgbClr val="66707A"/>
                </a:solidFill>
                <a:latin typeface="Aptos"/>
              </a:rPr>
              <a:t>El banco más grande de EE. UU.; líder indiscutible en banca de inversión global y mercados de capitales.</a:t>
            </a:r>
            <a:endParaRPr lang="es-ES" sz="1000" b="0" dirty="0">
              <a:solidFill>
                <a:srgbClr val="66707A"/>
              </a:solidFill>
              <a:latin typeface="Aptos"/>
            </a:endParaRPr>
          </a:p>
        </p:txBody>
      </p:sp>
      <p:sp>
        <p:nvSpPr>
          <p:cNvPr id="33" name="TextBox 13">
            <a:extLst>
              <a:ext uri="{FF2B5EF4-FFF2-40B4-BE49-F238E27FC236}">
                <a16:creationId xmlns:a16="http://schemas.microsoft.com/office/drawing/2014/main" id="{1CFF2B6D-F1EC-F6F7-3B73-3FD821F77018}"/>
              </a:ext>
            </a:extLst>
          </p:cNvPr>
          <p:cNvSpPr txBox="1"/>
          <p:nvPr/>
        </p:nvSpPr>
        <p:spPr>
          <a:xfrm>
            <a:off x="8451270" y="3298395"/>
            <a:ext cx="2832793" cy="535531"/>
          </a:xfrm>
          <a:prstGeom prst="rect">
            <a:avLst/>
          </a:prstGeom>
          <a:noFill/>
        </p:spPr>
        <p:txBody>
          <a:bodyPr wrap="square" lIns="36576" tIns="36576" rIns="36576" bIns="36576" anchor="t">
            <a:spAutoFit/>
          </a:bodyPr>
          <a:lstStyle/>
          <a:p>
            <a:pPr algn="l">
              <a:lnSpc>
                <a:spcPct val="100000"/>
              </a:lnSpc>
            </a:pPr>
            <a:r>
              <a:rPr lang="es-MX" sz="1000" b="0" dirty="0">
                <a:solidFill>
                  <a:srgbClr val="66707A"/>
                </a:solidFill>
                <a:latin typeface="Aptos"/>
              </a:rPr>
              <a:t>Fuerte presencia en banca corporativa y tarjetas de crédito, con una división de inversión muy competitiva en EE. UU. y Reino Unido.</a:t>
            </a:r>
            <a:endParaRPr lang="es-ES" sz="1000" b="0" dirty="0">
              <a:solidFill>
                <a:srgbClr val="66707A"/>
              </a:solidFill>
              <a:latin typeface="Aptos"/>
            </a:endParaRPr>
          </a:p>
        </p:txBody>
      </p:sp>
      <p:sp>
        <p:nvSpPr>
          <p:cNvPr id="34" name="TextBox 13">
            <a:extLst>
              <a:ext uri="{FF2B5EF4-FFF2-40B4-BE49-F238E27FC236}">
                <a16:creationId xmlns:a16="http://schemas.microsoft.com/office/drawing/2014/main" id="{6D5F67EA-AFA1-2656-8885-EE314DDB4E29}"/>
              </a:ext>
            </a:extLst>
          </p:cNvPr>
          <p:cNvSpPr txBox="1"/>
          <p:nvPr/>
        </p:nvSpPr>
        <p:spPr>
          <a:xfrm>
            <a:off x="8451270" y="4114193"/>
            <a:ext cx="2832793" cy="535531"/>
          </a:xfrm>
          <a:prstGeom prst="rect">
            <a:avLst/>
          </a:prstGeom>
          <a:noFill/>
        </p:spPr>
        <p:txBody>
          <a:bodyPr wrap="square" lIns="36576" tIns="36576" rIns="36576" bIns="36576" anchor="t">
            <a:spAutoFit/>
          </a:bodyPr>
          <a:lstStyle/>
          <a:p>
            <a:pPr algn="l">
              <a:lnSpc>
                <a:spcPct val="100000"/>
              </a:lnSpc>
            </a:pPr>
            <a:r>
              <a:rPr lang="es-MX" sz="1000" b="0" dirty="0">
                <a:solidFill>
                  <a:srgbClr val="66707A"/>
                </a:solidFill>
                <a:latin typeface="Aptos"/>
              </a:rPr>
              <a:t>Destaca por su gigantesca red de tesorería global y servicios comerciales transfronterizos para corporaciones.</a:t>
            </a:r>
            <a:endParaRPr lang="es-ES" sz="1000" b="0" dirty="0">
              <a:solidFill>
                <a:srgbClr val="66707A"/>
              </a:solidFill>
              <a:latin typeface="Aptos"/>
            </a:endParaRPr>
          </a:p>
        </p:txBody>
      </p:sp>
      <p:sp>
        <p:nvSpPr>
          <p:cNvPr id="35" name="TextBox 13">
            <a:extLst>
              <a:ext uri="{FF2B5EF4-FFF2-40B4-BE49-F238E27FC236}">
                <a16:creationId xmlns:a16="http://schemas.microsoft.com/office/drawing/2014/main" id="{0F76A084-D21C-C97A-846A-59E8EA0EB6FD}"/>
              </a:ext>
            </a:extLst>
          </p:cNvPr>
          <p:cNvSpPr txBox="1"/>
          <p:nvPr/>
        </p:nvSpPr>
        <p:spPr>
          <a:xfrm>
            <a:off x="8451270" y="4983107"/>
            <a:ext cx="2832793" cy="535531"/>
          </a:xfrm>
          <a:prstGeom prst="rect">
            <a:avLst/>
          </a:prstGeom>
          <a:noFill/>
        </p:spPr>
        <p:txBody>
          <a:bodyPr wrap="square" lIns="36576" tIns="36576" rIns="36576" bIns="36576" anchor="t">
            <a:spAutoFit/>
          </a:bodyPr>
          <a:lstStyle/>
          <a:p>
            <a:pPr algn="l">
              <a:lnSpc>
                <a:spcPct val="100000"/>
              </a:lnSpc>
            </a:pPr>
            <a:r>
              <a:rPr lang="es-MX" sz="1000" b="0" dirty="0">
                <a:solidFill>
                  <a:srgbClr val="66707A"/>
                </a:solidFill>
                <a:latin typeface="Aptos"/>
              </a:rPr>
              <a:t>El banco europeo más grande, enfocado históricamente en financiar el comercio entre Asia y Occidente.</a:t>
            </a:r>
            <a:endParaRPr lang="es-ES" sz="1000" b="0" dirty="0">
              <a:solidFill>
                <a:srgbClr val="66707A"/>
              </a:solidFill>
              <a:latin typeface="Aptos"/>
            </a:endParaRPr>
          </a:p>
        </p:txBody>
      </p:sp>
      <p:sp>
        <p:nvSpPr>
          <p:cNvPr id="36" name="TextBox 16">
            <a:extLst>
              <a:ext uri="{FF2B5EF4-FFF2-40B4-BE49-F238E27FC236}">
                <a16:creationId xmlns:a16="http://schemas.microsoft.com/office/drawing/2014/main" id="{7F0E95EE-7140-613E-3FD8-D047B891E5AE}"/>
              </a:ext>
            </a:extLst>
          </p:cNvPr>
          <p:cNvSpPr txBox="1"/>
          <p:nvPr/>
        </p:nvSpPr>
        <p:spPr>
          <a:xfrm>
            <a:off x="7265184" y="4114193"/>
            <a:ext cx="1116000" cy="258532"/>
          </a:xfrm>
          <a:prstGeom prst="rect">
            <a:avLst/>
          </a:prstGeom>
          <a:noFill/>
        </p:spPr>
        <p:txBody>
          <a:bodyPr wrap="square" lIns="36576" tIns="36576" rIns="36576" bIns="36576" anchor="t">
            <a:spAutoFit/>
          </a:bodyPr>
          <a:lstStyle/>
          <a:p>
            <a:pPr algn="l">
              <a:lnSpc>
                <a:spcPct val="100000"/>
              </a:lnSpc>
            </a:pPr>
            <a:r>
              <a:rPr lang="es-MX" sz="1200" b="0" dirty="0">
                <a:solidFill>
                  <a:srgbClr val="66707A"/>
                </a:solidFill>
                <a:latin typeface="Aptos"/>
              </a:rPr>
              <a:t>Estados Unidos</a:t>
            </a:r>
          </a:p>
        </p:txBody>
      </p:sp>
      <p:sp>
        <p:nvSpPr>
          <p:cNvPr id="37" name="TextBox 25">
            <a:extLst>
              <a:ext uri="{FF2B5EF4-FFF2-40B4-BE49-F238E27FC236}">
                <a16:creationId xmlns:a16="http://schemas.microsoft.com/office/drawing/2014/main" id="{052C5601-177F-BAED-5FB3-8C535242170B}"/>
              </a:ext>
            </a:extLst>
          </p:cNvPr>
          <p:cNvSpPr txBox="1"/>
          <p:nvPr/>
        </p:nvSpPr>
        <p:spPr>
          <a:xfrm>
            <a:off x="7265185" y="3298395"/>
            <a:ext cx="1116000" cy="261610"/>
          </a:xfrm>
          <a:prstGeom prst="rect">
            <a:avLst/>
          </a:prstGeom>
          <a:noFill/>
        </p:spPr>
        <p:txBody>
          <a:bodyPr wrap="square" lIns="36576" tIns="36576" rIns="36576" bIns="36576" anchor="t">
            <a:spAutoFit/>
          </a:bodyPr>
          <a:lstStyle/>
          <a:p>
            <a:pPr algn="l">
              <a:lnSpc>
                <a:spcPct val="100000"/>
              </a:lnSpc>
            </a:pPr>
            <a:r>
              <a:rPr lang="es-ES" sz="1220" b="0" dirty="0">
                <a:solidFill>
                  <a:srgbClr val="66707A"/>
                </a:solidFill>
                <a:latin typeface="Aptos"/>
              </a:rPr>
              <a:t>Reino Unido</a:t>
            </a:r>
          </a:p>
        </p:txBody>
      </p:sp>
      <p:sp>
        <p:nvSpPr>
          <p:cNvPr id="38" name="TextBox 25">
            <a:extLst>
              <a:ext uri="{FF2B5EF4-FFF2-40B4-BE49-F238E27FC236}">
                <a16:creationId xmlns:a16="http://schemas.microsoft.com/office/drawing/2014/main" id="{2B4E273A-E207-B430-9FE4-DDD34E893833}"/>
              </a:ext>
            </a:extLst>
          </p:cNvPr>
          <p:cNvSpPr txBox="1"/>
          <p:nvPr/>
        </p:nvSpPr>
        <p:spPr>
          <a:xfrm>
            <a:off x="7265185" y="1856047"/>
            <a:ext cx="1116000" cy="261610"/>
          </a:xfrm>
          <a:prstGeom prst="rect">
            <a:avLst/>
          </a:prstGeom>
          <a:noFill/>
        </p:spPr>
        <p:txBody>
          <a:bodyPr wrap="square" lIns="36576" tIns="36576" rIns="36576" bIns="36576" anchor="t">
            <a:spAutoFit/>
          </a:bodyPr>
          <a:lstStyle/>
          <a:p>
            <a:pPr algn="l">
              <a:lnSpc>
                <a:spcPct val="100000"/>
              </a:lnSpc>
            </a:pPr>
            <a:r>
              <a:rPr lang="es-ES" sz="1220" b="0" dirty="0">
                <a:solidFill>
                  <a:srgbClr val="66707A"/>
                </a:solidFill>
                <a:latin typeface="Aptos"/>
              </a:rPr>
              <a:t>Alemania</a:t>
            </a:r>
          </a:p>
        </p:txBody>
      </p:sp>
      <p:sp>
        <p:nvSpPr>
          <p:cNvPr id="39" name="TextBox 10">
            <a:extLst>
              <a:ext uri="{FF2B5EF4-FFF2-40B4-BE49-F238E27FC236}">
                <a16:creationId xmlns:a16="http://schemas.microsoft.com/office/drawing/2014/main" id="{E579A53F-052A-F915-8A8D-B66B9772B273}"/>
              </a:ext>
            </a:extLst>
          </p:cNvPr>
          <p:cNvSpPr txBox="1"/>
          <p:nvPr/>
        </p:nvSpPr>
        <p:spPr>
          <a:xfrm>
            <a:off x="7148160" y="1467715"/>
            <a:ext cx="1387764" cy="212366"/>
          </a:xfrm>
          <a:prstGeom prst="rect">
            <a:avLst/>
          </a:prstGeom>
          <a:noFill/>
        </p:spPr>
        <p:txBody>
          <a:bodyPr wrap="square" lIns="36576" tIns="36576" rIns="36576" bIns="36576" anchor="t">
            <a:spAutoFit/>
          </a:bodyPr>
          <a:lstStyle/>
          <a:p>
            <a:pPr algn="l">
              <a:lnSpc>
                <a:spcPct val="100000"/>
              </a:lnSpc>
            </a:pPr>
            <a:r>
              <a:rPr lang="es-ES" sz="900" b="1" dirty="0">
                <a:solidFill>
                  <a:srgbClr val="1F77B4"/>
                </a:solidFill>
                <a:latin typeface="Aptos"/>
              </a:rPr>
              <a:t>ORIGEN</a:t>
            </a:r>
            <a:endParaRPr sz="900" b="1" dirty="0">
              <a:solidFill>
                <a:srgbClr val="1F77B4"/>
              </a:solidFill>
              <a:latin typeface="Aptos"/>
            </a:endParaRPr>
          </a:p>
        </p:txBody>
      </p:sp>
      <p:sp>
        <p:nvSpPr>
          <p:cNvPr id="40" name="TextBox 10">
            <a:extLst>
              <a:ext uri="{FF2B5EF4-FFF2-40B4-BE49-F238E27FC236}">
                <a16:creationId xmlns:a16="http://schemas.microsoft.com/office/drawing/2014/main" id="{3CCC1EA3-2E0F-3657-5B8B-E55AF3F9C5A4}"/>
              </a:ext>
            </a:extLst>
          </p:cNvPr>
          <p:cNvSpPr txBox="1"/>
          <p:nvPr/>
        </p:nvSpPr>
        <p:spPr>
          <a:xfrm>
            <a:off x="8526780" y="1457814"/>
            <a:ext cx="2492202" cy="212366"/>
          </a:xfrm>
          <a:prstGeom prst="rect">
            <a:avLst/>
          </a:prstGeom>
          <a:noFill/>
        </p:spPr>
        <p:txBody>
          <a:bodyPr wrap="square" lIns="36576" tIns="36576" rIns="36576" bIns="36576" anchor="t">
            <a:spAutoFit/>
          </a:bodyPr>
          <a:lstStyle/>
          <a:p>
            <a:pPr algn="l">
              <a:lnSpc>
                <a:spcPct val="100000"/>
              </a:lnSpc>
            </a:pPr>
            <a:r>
              <a:rPr lang="es-ES" sz="900" b="1" dirty="0">
                <a:solidFill>
                  <a:srgbClr val="1F77B4"/>
                </a:solidFill>
                <a:latin typeface="Aptos"/>
              </a:rPr>
              <a:t>ENFOQUE PRINCIPAL</a:t>
            </a:r>
            <a:endParaRPr sz="900" b="1" dirty="0">
              <a:solidFill>
                <a:srgbClr val="1F77B4"/>
              </a:solidFill>
              <a:latin typeface="Aptos"/>
            </a:endParaRPr>
          </a:p>
        </p:txBody>
      </p:sp>
      <p:grpSp>
        <p:nvGrpSpPr>
          <p:cNvPr id="81" name="Grupo 80">
            <a:extLst>
              <a:ext uri="{FF2B5EF4-FFF2-40B4-BE49-F238E27FC236}">
                <a16:creationId xmlns:a16="http://schemas.microsoft.com/office/drawing/2014/main" id="{25024F3A-7289-59CC-58C4-91ECB072E5FF}"/>
              </a:ext>
            </a:extLst>
          </p:cNvPr>
          <p:cNvGrpSpPr/>
          <p:nvPr/>
        </p:nvGrpSpPr>
        <p:grpSpPr>
          <a:xfrm>
            <a:off x="9000000" y="360000"/>
            <a:ext cx="2592120" cy="204671"/>
            <a:chOff x="5671110" y="349758"/>
            <a:chExt cx="2592120" cy="204671"/>
          </a:xfrm>
        </p:grpSpPr>
        <p:sp>
          <p:nvSpPr>
            <p:cNvPr id="82" name="TextBox 3">
              <a:extLst>
                <a:ext uri="{FF2B5EF4-FFF2-40B4-BE49-F238E27FC236}">
                  <a16:creationId xmlns:a16="http://schemas.microsoft.com/office/drawing/2014/main" id="{56819AFC-8425-6965-607F-DEF85E849B2E}"/>
                </a:ext>
              </a:extLst>
            </p:cNvPr>
            <p:cNvSpPr txBox="1"/>
            <p:nvPr/>
          </p:nvSpPr>
          <p:spPr>
            <a:xfrm>
              <a:off x="6068670" y="349758"/>
              <a:ext cx="941730" cy="204671"/>
            </a:xfrm>
            <a:prstGeom prst="rect">
              <a:avLst/>
            </a:prstGeom>
            <a:noFill/>
          </p:spPr>
          <p:txBody>
            <a:bodyPr wrap="square" lIns="36576" tIns="36576" rIns="36576" bIns="36576" anchor="t">
              <a:spAutoFit/>
            </a:bodyPr>
            <a:lstStyle/>
            <a:p>
              <a:pPr>
                <a:lnSpc>
                  <a:spcPct val="100000"/>
                </a:lnSpc>
              </a:pPr>
              <a:r>
                <a:rPr sz="850" b="1" dirty="0">
                  <a:solidFill>
                    <a:srgbClr val="66707A"/>
                  </a:solidFill>
                  <a:latin typeface="Aptos"/>
                </a:rPr>
                <a:t>01 · </a:t>
              </a:r>
              <a:r>
                <a:rPr sz="850" b="1" dirty="0" err="1">
                  <a:solidFill>
                    <a:srgbClr val="66707A"/>
                  </a:solidFill>
                  <a:latin typeface="Aptos"/>
                </a:rPr>
                <a:t>CONTEXTO</a:t>
              </a:r>
              <a:endParaRPr sz="850" b="1" dirty="0">
                <a:solidFill>
                  <a:srgbClr val="66707A"/>
                </a:solidFill>
                <a:latin typeface="Aptos"/>
              </a:endParaRPr>
            </a:p>
          </p:txBody>
        </p:sp>
        <p:sp>
          <p:nvSpPr>
            <p:cNvPr id="83" name="Diagrama de flujo: conector 82">
              <a:extLst>
                <a:ext uri="{FF2B5EF4-FFF2-40B4-BE49-F238E27FC236}">
                  <a16:creationId xmlns:a16="http://schemas.microsoft.com/office/drawing/2014/main" id="{CDADCEEB-32C3-9F90-07FF-7CA33855309D}"/>
                </a:ext>
              </a:extLst>
            </p:cNvPr>
            <p:cNvSpPr/>
            <p:nvPr/>
          </p:nvSpPr>
          <p:spPr>
            <a:xfrm>
              <a:off x="5671110" y="402438"/>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grpSp>
          <p:nvGrpSpPr>
            <p:cNvPr id="84" name="Grupo 83">
              <a:extLst>
                <a:ext uri="{FF2B5EF4-FFF2-40B4-BE49-F238E27FC236}">
                  <a16:creationId xmlns:a16="http://schemas.microsoft.com/office/drawing/2014/main" id="{A7111722-A386-EA37-06AE-ABE37B2990AC}"/>
                </a:ext>
              </a:extLst>
            </p:cNvPr>
            <p:cNvGrpSpPr/>
            <p:nvPr/>
          </p:nvGrpSpPr>
          <p:grpSpPr>
            <a:xfrm>
              <a:off x="7240830" y="402438"/>
              <a:ext cx="1022400" cy="108000"/>
              <a:chOff x="7115100" y="402438"/>
              <a:chExt cx="1022400" cy="108000"/>
            </a:xfrm>
          </p:grpSpPr>
          <p:sp>
            <p:nvSpPr>
              <p:cNvPr id="85" name="Diagrama de flujo: conector 84">
                <a:extLst>
                  <a:ext uri="{FF2B5EF4-FFF2-40B4-BE49-F238E27FC236}">
                    <a16:creationId xmlns:a16="http://schemas.microsoft.com/office/drawing/2014/main" id="{41F8D493-994E-EA4D-0287-03CDC768B450}"/>
                  </a:ext>
                </a:extLst>
              </p:cNvPr>
              <p:cNvSpPr/>
              <p:nvPr/>
            </p:nvSpPr>
            <p:spPr>
              <a:xfrm>
                <a:off x="7115100" y="402438"/>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86" name="Diagrama de flujo: conector 85">
                <a:extLst>
                  <a:ext uri="{FF2B5EF4-FFF2-40B4-BE49-F238E27FC236}">
                    <a16:creationId xmlns:a16="http://schemas.microsoft.com/office/drawing/2014/main" id="{E84C2931-BC21-1F7A-D9AC-E738537CDD81}"/>
                  </a:ext>
                </a:extLst>
              </p:cNvPr>
              <p:cNvSpPr/>
              <p:nvPr/>
            </p:nvSpPr>
            <p:spPr>
              <a:xfrm>
                <a:off x="7267500" y="402438"/>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87" name="Diagrama de flujo: conector 86">
                <a:extLst>
                  <a:ext uri="{FF2B5EF4-FFF2-40B4-BE49-F238E27FC236}">
                    <a16:creationId xmlns:a16="http://schemas.microsoft.com/office/drawing/2014/main" id="{2799C3F5-7C5C-A2BC-92C3-4FD105766430}"/>
                  </a:ext>
                </a:extLst>
              </p:cNvPr>
              <p:cNvSpPr/>
              <p:nvPr/>
            </p:nvSpPr>
            <p:spPr>
              <a:xfrm>
                <a:off x="7419900" y="402438"/>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88" name="Diagrama de flujo: conector 87">
                <a:extLst>
                  <a:ext uri="{FF2B5EF4-FFF2-40B4-BE49-F238E27FC236}">
                    <a16:creationId xmlns:a16="http://schemas.microsoft.com/office/drawing/2014/main" id="{CF4B7391-98C2-CC5E-4D1D-19FA14DFC0C7}"/>
                  </a:ext>
                </a:extLst>
              </p:cNvPr>
              <p:cNvSpPr/>
              <p:nvPr/>
            </p:nvSpPr>
            <p:spPr>
              <a:xfrm>
                <a:off x="7572300" y="402438"/>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89" name="Diagrama de flujo: conector 88">
                <a:extLst>
                  <a:ext uri="{FF2B5EF4-FFF2-40B4-BE49-F238E27FC236}">
                    <a16:creationId xmlns:a16="http://schemas.microsoft.com/office/drawing/2014/main" id="{50981800-1373-5F1D-D81F-6F8460A5D91F}"/>
                  </a:ext>
                </a:extLst>
              </p:cNvPr>
              <p:cNvSpPr/>
              <p:nvPr/>
            </p:nvSpPr>
            <p:spPr>
              <a:xfrm>
                <a:off x="7724700" y="402438"/>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90" name="Diagrama de flujo: conector 89">
                <a:extLst>
                  <a:ext uri="{FF2B5EF4-FFF2-40B4-BE49-F238E27FC236}">
                    <a16:creationId xmlns:a16="http://schemas.microsoft.com/office/drawing/2014/main" id="{1408BB63-2DC6-F1DC-3CAD-2176D5EBBBFD}"/>
                  </a:ext>
                </a:extLst>
              </p:cNvPr>
              <p:cNvSpPr/>
              <p:nvPr/>
            </p:nvSpPr>
            <p:spPr>
              <a:xfrm>
                <a:off x="7877100" y="402438"/>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91" name="Diagrama de flujo: conector 90">
                <a:extLst>
                  <a:ext uri="{FF2B5EF4-FFF2-40B4-BE49-F238E27FC236}">
                    <a16:creationId xmlns:a16="http://schemas.microsoft.com/office/drawing/2014/main" id="{A2029C5B-D5EF-68F1-9476-EFA22CF8EC37}"/>
                  </a:ext>
                </a:extLst>
              </p:cNvPr>
              <p:cNvSpPr/>
              <p:nvPr/>
            </p:nvSpPr>
            <p:spPr>
              <a:xfrm>
                <a:off x="8029500" y="402438"/>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grpSp>
      </p:grpSp>
      <p:sp>
        <p:nvSpPr>
          <p:cNvPr id="4" name="Rectángulo 3">
            <a:extLst>
              <a:ext uri="{FF2B5EF4-FFF2-40B4-BE49-F238E27FC236}">
                <a16:creationId xmlns:a16="http://schemas.microsoft.com/office/drawing/2014/main" id="{C2098FB2-DDA7-6584-0A9C-D301909F6219}"/>
              </a:ext>
            </a:extLst>
          </p:cNvPr>
          <p:cNvSpPr/>
          <p:nvPr/>
        </p:nvSpPr>
        <p:spPr>
          <a:xfrm>
            <a:off x="-17070" y="0"/>
            <a:ext cx="302820" cy="6858000"/>
          </a:xfrm>
          <a:prstGeom prst="rect">
            <a:avLst/>
          </a:prstGeom>
          <a:gradFill flip="none" rotWithShape="1">
            <a:gsLst>
              <a:gs pos="0">
                <a:schemeClr val="tx2">
                  <a:lumMod val="50000"/>
                </a:schemeClr>
              </a:gs>
              <a:gs pos="58000">
                <a:srgbClr val="E5E7EE"/>
              </a:gs>
              <a:gs pos="29000">
                <a:schemeClr val="tx2">
                  <a:tint val="44500"/>
                  <a:satMod val="160000"/>
                </a:schemeClr>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789920" cy="502920"/>
          </a:xfrm>
          <a:prstGeom prst="rect">
            <a:avLst/>
          </a:prstGeom>
          <a:noFill/>
        </p:spPr>
        <p:txBody>
          <a:bodyPr wrap="square" lIns="36576" tIns="36576" rIns="36576" bIns="36576" anchor="t">
            <a:spAutoFit/>
          </a:bodyPr>
          <a:lstStyle/>
          <a:p>
            <a:pPr algn="l">
              <a:lnSpc>
                <a:spcPct val="100000"/>
              </a:lnSpc>
            </a:pPr>
            <a:r>
              <a:rPr sz="2500" b="1">
                <a:solidFill>
                  <a:srgbClr val="13233A"/>
                </a:solidFill>
                <a:latin typeface="Aptos"/>
              </a:rPr>
              <a:t>Pipeline de NLP en 5 pasos</a:t>
            </a:r>
          </a:p>
        </p:txBody>
      </p:sp>
      <p:sp>
        <p:nvSpPr>
          <p:cNvPr id="3" name="Rectangle 2"/>
          <p:cNvSpPr/>
          <p:nvPr/>
        </p:nvSpPr>
        <p:spPr>
          <a:xfrm>
            <a:off x="548640" y="896112"/>
            <a:ext cx="1051560" cy="32004"/>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17320"/>
            <a:ext cx="1874519" cy="1170432"/>
          </a:xfrm>
          <a:prstGeom prst="roundRect">
            <a:avLst>
              <a:gd name="adj" fmla="val 8000"/>
            </a:avLst>
          </a:prstGeom>
          <a:solidFill>
            <a:srgbClr val="FFFFFF"/>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700784"/>
            <a:ext cx="1655064" cy="347472"/>
          </a:xfrm>
          <a:prstGeom prst="rect">
            <a:avLst/>
          </a:prstGeom>
          <a:noFill/>
        </p:spPr>
        <p:txBody>
          <a:bodyPr wrap="square" lIns="36576" tIns="36576" rIns="36576" bIns="36576" anchor="t">
            <a:spAutoFit/>
          </a:bodyPr>
          <a:lstStyle/>
          <a:p>
            <a:pPr algn="ctr">
              <a:lnSpc>
                <a:spcPct val="100000"/>
              </a:lnSpc>
            </a:pPr>
            <a:r>
              <a:rPr sz="1500" b="1">
                <a:solidFill>
                  <a:srgbClr val="13233A"/>
                </a:solidFill>
                <a:latin typeface="Aptos"/>
              </a:rPr>
              <a:t>2.500 reseñas</a:t>
            </a:r>
          </a:p>
        </p:txBody>
      </p:sp>
      <p:sp>
        <p:nvSpPr>
          <p:cNvPr id="7" name="TextBox 6"/>
          <p:cNvSpPr txBox="1"/>
          <p:nvPr/>
        </p:nvSpPr>
        <p:spPr>
          <a:xfrm>
            <a:off x="658368" y="2075688"/>
            <a:ext cx="1655064" cy="256032"/>
          </a:xfrm>
          <a:prstGeom prst="rect">
            <a:avLst/>
          </a:prstGeom>
          <a:noFill/>
        </p:spPr>
        <p:txBody>
          <a:bodyPr wrap="square" lIns="36576" tIns="36576" rIns="36576" bIns="36576" anchor="t">
            <a:spAutoFit/>
          </a:bodyPr>
          <a:lstStyle/>
          <a:p>
            <a:pPr algn="ctr">
              <a:lnSpc>
                <a:spcPct val="100000"/>
              </a:lnSpc>
            </a:pPr>
            <a:r>
              <a:rPr sz="1050" b="0">
                <a:solidFill>
                  <a:srgbClr val="66707A"/>
                </a:solidFill>
                <a:latin typeface="Aptos"/>
              </a:rPr>
              <a:t>500 / empresa</a:t>
            </a:r>
          </a:p>
        </p:txBody>
      </p:sp>
      <p:sp>
        <p:nvSpPr>
          <p:cNvPr id="8" name="TextBox 7"/>
          <p:cNvSpPr txBox="1"/>
          <p:nvPr/>
        </p:nvSpPr>
        <p:spPr>
          <a:xfrm>
            <a:off x="2468880" y="1764792"/>
            <a:ext cx="347472" cy="320040"/>
          </a:xfrm>
          <a:prstGeom prst="rect">
            <a:avLst/>
          </a:prstGeom>
          <a:noFill/>
        </p:spPr>
        <p:txBody>
          <a:bodyPr wrap="square" lIns="36576" tIns="36576" rIns="36576" bIns="36576" anchor="t">
            <a:spAutoFit/>
          </a:bodyPr>
          <a:lstStyle/>
          <a:p>
            <a:pPr algn="ctr">
              <a:lnSpc>
                <a:spcPct val="100000"/>
              </a:lnSpc>
            </a:pPr>
            <a:r>
              <a:rPr sz="2000" b="1">
                <a:solidFill>
                  <a:srgbClr val="1F77B4"/>
                </a:solidFill>
                <a:latin typeface="Aptos"/>
              </a:rPr>
              <a:t>→</a:t>
            </a:r>
          </a:p>
        </p:txBody>
      </p:sp>
      <p:sp>
        <p:nvSpPr>
          <p:cNvPr id="9" name="Rounded Rectangle 8"/>
          <p:cNvSpPr/>
          <p:nvPr/>
        </p:nvSpPr>
        <p:spPr>
          <a:xfrm>
            <a:off x="2816352" y="1417320"/>
            <a:ext cx="1874519" cy="1170432"/>
          </a:xfrm>
          <a:prstGeom prst="roundRect">
            <a:avLst>
              <a:gd name="adj" fmla="val 8000"/>
            </a:avLst>
          </a:prstGeom>
          <a:solidFill>
            <a:srgbClr val="FFFFFF"/>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700784"/>
            <a:ext cx="1655064" cy="347472"/>
          </a:xfrm>
          <a:prstGeom prst="rect">
            <a:avLst/>
          </a:prstGeom>
          <a:noFill/>
        </p:spPr>
        <p:txBody>
          <a:bodyPr wrap="square" lIns="36576" tIns="36576" rIns="36576" bIns="36576" anchor="t">
            <a:spAutoFit/>
          </a:bodyPr>
          <a:lstStyle/>
          <a:p>
            <a:pPr algn="ctr">
              <a:lnSpc>
                <a:spcPct val="100000"/>
              </a:lnSpc>
            </a:pPr>
            <a:r>
              <a:rPr sz="1500" b="1">
                <a:solidFill>
                  <a:srgbClr val="13233A"/>
                </a:solidFill>
                <a:latin typeface="Aptos"/>
              </a:rPr>
              <a:t>Sentimiento</a:t>
            </a:r>
          </a:p>
        </p:txBody>
      </p:sp>
      <p:sp>
        <p:nvSpPr>
          <p:cNvPr id="11" name="TextBox 10"/>
          <p:cNvSpPr txBox="1"/>
          <p:nvPr/>
        </p:nvSpPr>
        <p:spPr>
          <a:xfrm>
            <a:off x="2926080" y="2075688"/>
            <a:ext cx="1655064" cy="256032"/>
          </a:xfrm>
          <a:prstGeom prst="rect">
            <a:avLst/>
          </a:prstGeom>
          <a:noFill/>
        </p:spPr>
        <p:txBody>
          <a:bodyPr wrap="square" lIns="36576" tIns="36576" rIns="36576" bIns="36576" anchor="t">
            <a:spAutoFit/>
          </a:bodyPr>
          <a:lstStyle/>
          <a:p>
            <a:pPr algn="ctr">
              <a:lnSpc>
                <a:spcPct val="100000"/>
              </a:lnSpc>
            </a:pPr>
            <a:r>
              <a:rPr sz="1050" b="0">
                <a:solidFill>
                  <a:srgbClr val="66707A"/>
                </a:solidFill>
                <a:latin typeface="Aptos"/>
              </a:rPr>
              <a:t>DistilBERT</a:t>
            </a:r>
          </a:p>
        </p:txBody>
      </p:sp>
      <p:sp>
        <p:nvSpPr>
          <p:cNvPr id="12" name="TextBox 11"/>
          <p:cNvSpPr txBox="1"/>
          <p:nvPr/>
        </p:nvSpPr>
        <p:spPr>
          <a:xfrm>
            <a:off x="4736592" y="1764792"/>
            <a:ext cx="347472" cy="320040"/>
          </a:xfrm>
          <a:prstGeom prst="rect">
            <a:avLst/>
          </a:prstGeom>
          <a:noFill/>
        </p:spPr>
        <p:txBody>
          <a:bodyPr wrap="square" lIns="36576" tIns="36576" rIns="36576" bIns="36576" anchor="t">
            <a:spAutoFit/>
          </a:bodyPr>
          <a:lstStyle/>
          <a:p>
            <a:pPr algn="ctr">
              <a:lnSpc>
                <a:spcPct val="100000"/>
              </a:lnSpc>
            </a:pPr>
            <a:r>
              <a:rPr sz="2000" b="1">
                <a:solidFill>
                  <a:srgbClr val="1F77B4"/>
                </a:solidFill>
                <a:latin typeface="Aptos"/>
              </a:rPr>
              <a:t>→</a:t>
            </a:r>
          </a:p>
        </p:txBody>
      </p:sp>
      <p:sp>
        <p:nvSpPr>
          <p:cNvPr id="13" name="Rounded Rectangle 12"/>
          <p:cNvSpPr/>
          <p:nvPr/>
        </p:nvSpPr>
        <p:spPr>
          <a:xfrm>
            <a:off x="5084064" y="1417320"/>
            <a:ext cx="1874519" cy="1170432"/>
          </a:xfrm>
          <a:prstGeom prst="roundRect">
            <a:avLst>
              <a:gd name="adj" fmla="val 8000"/>
            </a:avLst>
          </a:prstGeom>
          <a:solidFill>
            <a:srgbClr val="FFFFFF"/>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93792" y="1700784"/>
            <a:ext cx="1655064" cy="347472"/>
          </a:xfrm>
          <a:prstGeom prst="rect">
            <a:avLst/>
          </a:prstGeom>
          <a:noFill/>
        </p:spPr>
        <p:txBody>
          <a:bodyPr wrap="square" lIns="36576" tIns="36576" rIns="36576" bIns="36576" anchor="t">
            <a:spAutoFit/>
          </a:bodyPr>
          <a:lstStyle/>
          <a:p>
            <a:pPr algn="ctr">
              <a:lnSpc>
                <a:spcPct val="100000"/>
              </a:lnSpc>
            </a:pPr>
            <a:r>
              <a:rPr sz="1500" b="1">
                <a:solidFill>
                  <a:srgbClr val="13233A"/>
                </a:solidFill>
                <a:latin typeface="Aptos"/>
              </a:rPr>
              <a:t>Topics</a:t>
            </a:r>
          </a:p>
        </p:txBody>
      </p:sp>
      <p:sp>
        <p:nvSpPr>
          <p:cNvPr id="15" name="TextBox 14"/>
          <p:cNvSpPr txBox="1"/>
          <p:nvPr/>
        </p:nvSpPr>
        <p:spPr>
          <a:xfrm>
            <a:off x="5193792" y="2075688"/>
            <a:ext cx="1655064" cy="256032"/>
          </a:xfrm>
          <a:prstGeom prst="rect">
            <a:avLst/>
          </a:prstGeom>
          <a:noFill/>
        </p:spPr>
        <p:txBody>
          <a:bodyPr wrap="square" lIns="36576" tIns="36576" rIns="36576" bIns="36576" anchor="t">
            <a:spAutoFit/>
          </a:bodyPr>
          <a:lstStyle/>
          <a:p>
            <a:pPr algn="ctr">
              <a:lnSpc>
                <a:spcPct val="100000"/>
              </a:lnSpc>
            </a:pPr>
            <a:r>
              <a:rPr sz="1050" b="0">
                <a:solidFill>
                  <a:srgbClr val="66707A"/>
                </a:solidFill>
                <a:latin typeface="Aptos"/>
              </a:rPr>
              <a:t>BERTopic</a:t>
            </a:r>
          </a:p>
        </p:txBody>
      </p:sp>
      <p:sp>
        <p:nvSpPr>
          <p:cNvPr id="16" name="TextBox 15"/>
          <p:cNvSpPr txBox="1"/>
          <p:nvPr/>
        </p:nvSpPr>
        <p:spPr>
          <a:xfrm>
            <a:off x="7004304" y="1764792"/>
            <a:ext cx="347472" cy="320040"/>
          </a:xfrm>
          <a:prstGeom prst="rect">
            <a:avLst/>
          </a:prstGeom>
          <a:noFill/>
        </p:spPr>
        <p:txBody>
          <a:bodyPr wrap="square" lIns="36576" tIns="36576" rIns="36576" bIns="36576" anchor="t">
            <a:spAutoFit/>
          </a:bodyPr>
          <a:lstStyle/>
          <a:p>
            <a:pPr algn="ctr">
              <a:lnSpc>
                <a:spcPct val="100000"/>
              </a:lnSpc>
            </a:pPr>
            <a:r>
              <a:rPr sz="2000" b="1">
                <a:solidFill>
                  <a:srgbClr val="1F77B4"/>
                </a:solidFill>
                <a:latin typeface="Aptos"/>
              </a:rPr>
              <a:t>→</a:t>
            </a:r>
          </a:p>
        </p:txBody>
      </p:sp>
      <p:sp>
        <p:nvSpPr>
          <p:cNvPr id="17" name="Rounded Rectangle 16"/>
          <p:cNvSpPr/>
          <p:nvPr/>
        </p:nvSpPr>
        <p:spPr>
          <a:xfrm>
            <a:off x="7351775" y="1417320"/>
            <a:ext cx="1874519" cy="1170432"/>
          </a:xfrm>
          <a:prstGeom prst="roundRect">
            <a:avLst>
              <a:gd name="adj" fmla="val 8000"/>
            </a:avLst>
          </a:prstGeom>
          <a:solidFill>
            <a:srgbClr val="FFFFFF"/>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61503" y="1700784"/>
            <a:ext cx="1655064" cy="347472"/>
          </a:xfrm>
          <a:prstGeom prst="rect">
            <a:avLst/>
          </a:prstGeom>
          <a:noFill/>
        </p:spPr>
        <p:txBody>
          <a:bodyPr wrap="square" lIns="36576" tIns="36576" rIns="36576" bIns="36576" anchor="t">
            <a:spAutoFit/>
          </a:bodyPr>
          <a:lstStyle/>
          <a:p>
            <a:pPr algn="ctr">
              <a:lnSpc>
                <a:spcPct val="100000"/>
              </a:lnSpc>
            </a:pPr>
            <a:r>
              <a:rPr sz="1500" b="1">
                <a:solidFill>
                  <a:srgbClr val="13233A"/>
                </a:solidFill>
                <a:latin typeface="Aptos"/>
              </a:rPr>
              <a:t>Categorías</a:t>
            </a:r>
          </a:p>
        </p:txBody>
      </p:sp>
      <p:sp>
        <p:nvSpPr>
          <p:cNvPr id="19" name="TextBox 18"/>
          <p:cNvSpPr txBox="1"/>
          <p:nvPr/>
        </p:nvSpPr>
        <p:spPr>
          <a:xfrm>
            <a:off x="7461503" y="2075688"/>
            <a:ext cx="1655064" cy="256032"/>
          </a:xfrm>
          <a:prstGeom prst="rect">
            <a:avLst/>
          </a:prstGeom>
          <a:noFill/>
        </p:spPr>
        <p:txBody>
          <a:bodyPr wrap="square" lIns="36576" tIns="36576" rIns="36576" bIns="36576" anchor="t">
            <a:spAutoFit/>
          </a:bodyPr>
          <a:lstStyle/>
          <a:p>
            <a:pPr algn="ctr">
              <a:lnSpc>
                <a:spcPct val="100000"/>
              </a:lnSpc>
            </a:pPr>
            <a:r>
              <a:rPr sz="1050" b="0">
                <a:solidFill>
                  <a:srgbClr val="66707A"/>
                </a:solidFill>
                <a:latin typeface="Aptos"/>
              </a:rPr>
              <a:t>de negocio</a:t>
            </a:r>
          </a:p>
        </p:txBody>
      </p:sp>
      <p:sp>
        <p:nvSpPr>
          <p:cNvPr id="20" name="TextBox 19"/>
          <p:cNvSpPr txBox="1"/>
          <p:nvPr/>
        </p:nvSpPr>
        <p:spPr>
          <a:xfrm>
            <a:off x="9272015" y="1764792"/>
            <a:ext cx="347472" cy="320040"/>
          </a:xfrm>
          <a:prstGeom prst="rect">
            <a:avLst/>
          </a:prstGeom>
          <a:noFill/>
        </p:spPr>
        <p:txBody>
          <a:bodyPr wrap="square" lIns="36576" tIns="36576" rIns="36576" bIns="36576" anchor="t">
            <a:spAutoFit/>
          </a:bodyPr>
          <a:lstStyle/>
          <a:p>
            <a:pPr algn="ctr">
              <a:lnSpc>
                <a:spcPct val="100000"/>
              </a:lnSpc>
            </a:pPr>
            <a:r>
              <a:rPr sz="2000" b="1">
                <a:solidFill>
                  <a:srgbClr val="1F77B4"/>
                </a:solidFill>
                <a:latin typeface="Aptos"/>
              </a:rPr>
              <a:t>→</a:t>
            </a:r>
          </a:p>
        </p:txBody>
      </p:sp>
      <p:sp>
        <p:nvSpPr>
          <p:cNvPr id="21" name="Rounded Rectangle 20"/>
          <p:cNvSpPr/>
          <p:nvPr/>
        </p:nvSpPr>
        <p:spPr>
          <a:xfrm>
            <a:off x="9619488" y="1417320"/>
            <a:ext cx="1874519" cy="1170432"/>
          </a:xfrm>
          <a:prstGeom prst="roundRect">
            <a:avLst>
              <a:gd name="adj" fmla="val 8000"/>
            </a:avLst>
          </a:prstGeom>
          <a:solidFill>
            <a:srgbClr val="FFFFFF"/>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29215" y="1700784"/>
            <a:ext cx="1655064" cy="347472"/>
          </a:xfrm>
          <a:prstGeom prst="rect">
            <a:avLst/>
          </a:prstGeom>
          <a:noFill/>
        </p:spPr>
        <p:txBody>
          <a:bodyPr wrap="square" lIns="36576" tIns="36576" rIns="36576" bIns="36576" anchor="t">
            <a:spAutoFit/>
          </a:bodyPr>
          <a:lstStyle/>
          <a:p>
            <a:pPr algn="ctr">
              <a:lnSpc>
                <a:spcPct val="100000"/>
              </a:lnSpc>
            </a:pPr>
            <a:r>
              <a:rPr sz="1500" b="1">
                <a:solidFill>
                  <a:srgbClr val="13233A"/>
                </a:solidFill>
                <a:latin typeface="Aptos"/>
              </a:rPr>
              <a:t>Comparación</a:t>
            </a:r>
          </a:p>
        </p:txBody>
      </p:sp>
      <p:sp>
        <p:nvSpPr>
          <p:cNvPr id="23" name="TextBox 22"/>
          <p:cNvSpPr txBox="1"/>
          <p:nvPr/>
        </p:nvSpPr>
        <p:spPr>
          <a:xfrm>
            <a:off x="9729215" y="2075688"/>
            <a:ext cx="1655064" cy="256032"/>
          </a:xfrm>
          <a:prstGeom prst="rect">
            <a:avLst/>
          </a:prstGeom>
          <a:noFill/>
        </p:spPr>
        <p:txBody>
          <a:bodyPr wrap="square" lIns="36576" tIns="36576" rIns="36576" bIns="36576" anchor="t">
            <a:spAutoFit/>
          </a:bodyPr>
          <a:lstStyle/>
          <a:p>
            <a:pPr algn="ctr">
              <a:lnSpc>
                <a:spcPct val="100000"/>
              </a:lnSpc>
            </a:pPr>
            <a:r>
              <a:rPr sz="1050" b="0">
                <a:solidFill>
                  <a:srgbClr val="66707A"/>
                </a:solidFill>
                <a:latin typeface="Aptos"/>
              </a:rPr>
              <a:t>con peers</a:t>
            </a:r>
          </a:p>
        </p:txBody>
      </p:sp>
      <p:sp>
        <p:nvSpPr>
          <p:cNvPr id="24" name="TextBox 23"/>
          <p:cNvSpPr txBox="1"/>
          <p:nvPr/>
        </p:nvSpPr>
        <p:spPr>
          <a:xfrm>
            <a:off x="548640" y="2971800"/>
            <a:ext cx="2743200" cy="274320"/>
          </a:xfrm>
          <a:prstGeom prst="rect">
            <a:avLst/>
          </a:prstGeom>
          <a:noFill/>
        </p:spPr>
        <p:txBody>
          <a:bodyPr wrap="square" lIns="36576" tIns="36576" rIns="36576" bIns="36576" anchor="t">
            <a:spAutoFit/>
          </a:bodyPr>
          <a:lstStyle/>
          <a:p>
            <a:pPr algn="l">
              <a:lnSpc>
                <a:spcPct val="100000"/>
              </a:lnSpc>
            </a:pPr>
            <a:r>
              <a:rPr sz="900" b="1">
                <a:solidFill>
                  <a:srgbClr val="1F77B4"/>
                </a:solidFill>
                <a:latin typeface="Aptos"/>
              </a:rPr>
              <a:t>DECISIONES CLAVE</a:t>
            </a:r>
          </a:p>
        </p:txBody>
      </p:sp>
      <p:sp>
        <p:nvSpPr>
          <p:cNvPr id="25" name="Rounded Rectangle 24"/>
          <p:cNvSpPr/>
          <p:nvPr/>
        </p:nvSpPr>
        <p:spPr>
          <a:xfrm>
            <a:off x="548640" y="3401568"/>
            <a:ext cx="11082528" cy="704088"/>
          </a:xfrm>
          <a:prstGeom prst="roundRect">
            <a:avLst>
              <a:gd name="adj" fmla="val 8000"/>
            </a:avLst>
          </a:prstGeom>
          <a:solidFill>
            <a:srgbClr val="F6F7F9"/>
          </a:solidFill>
          <a:ln>
            <a:solidFill>
              <a:srgbClr val="F6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3547872"/>
            <a:ext cx="384048" cy="274320"/>
          </a:xfrm>
          <a:prstGeom prst="rect">
            <a:avLst/>
          </a:prstGeom>
          <a:noFill/>
        </p:spPr>
        <p:txBody>
          <a:bodyPr wrap="square" lIns="36576" tIns="36576" rIns="36576" bIns="36576" anchor="t">
            <a:spAutoFit/>
          </a:bodyPr>
          <a:lstStyle/>
          <a:p>
            <a:pPr algn="ctr">
              <a:lnSpc>
                <a:spcPct val="100000"/>
              </a:lnSpc>
            </a:pPr>
            <a:r>
              <a:rPr sz="1000" b="1">
                <a:solidFill>
                  <a:srgbClr val="1F77B4"/>
                </a:solidFill>
                <a:latin typeface="Aptos"/>
              </a:rPr>
              <a:t>01</a:t>
            </a:r>
          </a:p>
        </p:txBody>
      </p:sp>
      <p:sp>
        <p:nvSpPr>
          <p:cNvPr id="27" name="TextBox 26"/>
          <p:cNvSpPr txBox="1"/>
          <p:nvPr/>
        </p:nvSpPr>
        <p:spPr>
          <a:xfrm>
            <a:off x="1234440" y="3511296"/>
            <a:ext cx="3977639" cy="256032"/>
          </a:xfrm>
          <a:prstGeom prst="rect">
            <a:avLst/>
          </a:prstGeom>
          <a:noFill/>
        </p:spPr>
        <p:txBody>
          <a:bodyPr wrap="square" lIns="36576" tIns="36576" rIns="36576" bIns="36576" anchor="t">
            <a:spAutoFit/>
          </a:bodyPr>
          <a:lstStyle/>
          <a:p>
            <a:pPr algn="l">
              <a:lnSpc>
                <a:spcPct val="100000"/>
              </a:lnSpc>
            </a:pPr>
            <a:r>
              <a:rPr sz="1320" b="1">
                <a:solidFill>
                  <a:srgbClr val="13233A"/>
                </a:solidFill>
                <a:latin typeface="Aptos"/>
              </a:rPr>
              <a:t>Un único modelo de topics por empresa</a:t>
            </a:r>
          </a:p>
        </p:txBody>
      </p:sp>
      <p:sp>
        <p:nvSpPr>
          <p:cNvPr id="28" name="TextBox 27"/>
          <p:cNvSpPr txBox="1"/>
          <p:nvPr/>
        </p:nvSpPr>
        <p:spPr>
          <a:xfrm>
            <a:off x="5257800" y="3511296"/>
            <a:ext cx="5989320" cy="384048"/>
          </a:xfrm>
          <a:prstGeom prst="rect">
            <a:avLst/>
          </a:prstGeom>
          <a:noFill/>
        </p:spPr>
        <p:txBody>
          <a:bodyPr wrap="square" lIns="36576" tIns="36576" rIns="36576" bIns="36576" anchor="t">
            <a:spAutoFit/>
          </a:bodyPr>
          <a:lstStyle/>
          <a:p>
            <a:pPr algn="l">
              <a:lnSpc>
                <a:spcPct val="100000"/>
              </a:lnSpc>
            </a:pPr>
            <a:r>
              <a:rPr sz="1230" b="0">
                <a:solidFill>
                  <a:srgbClr val="242B32"/>
                </a:solidFill>
                <a:latin typeface="Aptos"/>
              </a:rPr>
              <a:t>Los temas son comparables entre bancos.</a:t>
            </a:r>
          </a:p>
        </p:txBody>
      </p:sp>
      <p:sp>
        <p:nvSpPr>
          <p:cNvPr id="29" name="Rounded Rectangle 28"/>
          <p:cNvSpPr/>
          <p:nvPr/>
        </p:nvSpPr>
        <p:spPr>
          <a:xfrm>
            <a:off x="548640" y="4224528"/>
            <a:ext cx="11082528" cy="704088"/>
          </a:xfrm>
          <a:prstGeom prst="roundRect">
            <a:avLst>
              <a:gd name="adj" fmla="val 8000"/>
            </a:avLst>
          </a:prstGeom>
          <a:solidFill>
            <a:srgbClr val="F6F7F9"/>
          </a:solidFill>
          <a:ln>
            <a:solidFill>
              <a:srgbClr val="F6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370832"/>
            <a:ext cx="384048" cy="274320"/>
          </a:xfrm>
          <a:prstGeom prst="rect">
            <a:avLst/>
          </a:prstGeom>
          <a:noFill/>
        </p:spPr>
        <p:txBody>
          <a:bodyPr wrap="square" lIns="36576" tIns="36576" rIns="36576" bIns="36576" anchor="t">
            <a:spAutoFit/>
          </a:bodyPr>
          <a:lstStyle/>
          <a:p>
            <a:pPr algn="ctr">
              <a:lnSpc>
                <a:spcPct val="100000"/>
              </a:lnSpc>
            </a:pPr>
            <a:r>
              <a:rPr sz="1000" b="1">
                <a:solidFill>
                  <a:srgbClr val="1F77B4"/>
                </a:solidFill>
                <a:latin typeface="Aptos"/>
              </a:rPr>
              <a:t>02</a:t>
            </a:r>
          </a:p>
        </p:txBody>
      </p:sp>
      <p:sp>
        <p:nvSpPr>
          <p:cNvPr id="31" name="TextBox 30"/>
          <p:cNvSpPr txBox="1"/>
          <p:nvPr/>
        </p:nvSpPr>
        <p:spPr>
          <a:xfrm>
            <a:off x="1234440" y="4334256"/>
            <a:ext cx="3977639" cy="256032"/>
          </a:xfrm>
          <a:prstGeom prst="rect">
            <a:avLst/>
          </a:prstGeom>
          <a:noFill/>
        </p:spPr>
        <p:txBody>
          <a:bodyPr wrap="square" lIns="36576" tIns="36576" rIns="36576" bIns="36576" anchor="t">
            <a:spAutoFit/>
          </a:bodyPr>
          <a:lstStyle/>
          <a:p>
            <a:pPr algn="l">
              <a:lnSpc>
                <a:spcPct val="100000"/>
              </a:lnSpc>
            </a:pPr>
            <a:r>
              <a:rPr sz="1320" b="1">
                <a:solidFill>
                  <a:srgbClr val="13233A"/>
                </a:solidFill>
                <a:latin typeface="Aptos"/>
              </a:rPr>
              <a:t>Validación de sentimiento</a:t>
            </a:r>
          </a:p>
        </p:txBody>
      </p:sp>
      <p:sp>
        <p:nvSpPr>
          <p:cNvPr id="32" name="TextBox 31"/>
          <p:cNvSpPr txBox="1"/>
          <p:nvPr/>
        </p:nvSpPr>
        <p:spPr>
          <a:xfrm>
            <a:off x="5257800" y="4334256"/>
            <a:ext cx="5989320" cy="384048"/>
          </a:xfrm>
          <a:prstGeom prst="rect">
            <a:avLst/>
          </a:prstGeom>
          <a:noFill/>
        </p:spPr>
        <p:txBody>
          <a:bodyPr wrap="square" lIns="36576" tIns="36576" rIns="36576" bIns="36576" anchor="t">
            <a:spAutoFit/>
          </a:bodyPr>
          <a:lstStyle/>
          <a:p>
            <a:pPr algn="l">
              <a:lnSpc>
                <a:spcPct val="100000"/>
              </a:lnSpc>
            </a:pPr>
            <a:r>
              <a:rPr sz="1230" b="0">
                <a:solidFill>
                  <a:srgbClr val="242B32"/>
                </a:solidFill>
                <a:latin typeface="Aptos"/>
              </a:rPr>
              <a:t>92% de pros positivos y 82% de cons negativos → el modelo funciona.</a:t>
            </a:r>
          </a:p>
        </p:txBody>
      </p:sp>
      <p:sp>
        <p:nvSpPr>
          <p:cNvPr id="33" name="Rounded Rectangle 32"/>
          <p:cNvSpPr/>
          <p:nvPr/>
        </p:nvSpPr>
        <p:spPr>
          <a:xfrm>
            <a:off x="548640" y="5047488"/>
            <a:ext cx="11082528" cy="704088"/>
          </a:xfrm>
          <a:prstGeom prst="roundRect">
            <a:avLst>
              <a:gd name="adj" fmla="val 8000"/>
            </a:avLst>
          </a:prstGeom>
          <a:solidFill>
            <a:srgbClr val="F6F7F9"/>
          </a:solidFill>
          <a:ln>
            <a:solidFill>
              <a:srgbClr val="F6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 y="5193792"/>
            <a:ext cx="384048" cy="274320"/>
          </a:xfrm>
          <a:prstGeom prst="rect">
            <a:avLst/>
          </a:prstGeom>
          <a:noFill/>
        </p:spPr>
        <p:txBody>
          <a:bodyPr wrap="square" lIns="36576" tIns="36576" rIns="36576" bIns="36576" anchor="t">
            <a:spAutoFit/>
          </a:bodyPr>
          <a:lstStyle/>
          <a:p>
            <a:pPr algn="ctr">
              <a:lnSpc>
                <a:spcPct val="100000"/>
              </a:lnSpc>
            </a:pPr>
            <a:r>
              <a:rPr sz="1000" b="1">
                <a:solidFill>
                  <a:srgbClr val="1F77B4"/>
                </a:solidFill>
                <a:latin typeface="Aptos"/>
              </a:rPr>
              <a:t>03</a:t>
            </a:r>
          </a:p>
        </p:txBody>
      </p:sp>
      <p:sp>
        <p:nvSpPr>
          <p:cNvPr id="35" name="TextBox 34"/>
          <p:cNvSpPr txBox="1"/>
          <p:nvPr/>
        </p:nvSpPr>
        <p:spPr>
          <a:xfrm>
            <a:off x="1234440" y="5157216"/>
            <a:ext cx="3977639" cy="256032"/>
          </a:xfrm>
          <a:prstGeom prst="rect">
            <a:avLst/>
          </a:prstGeom>
          <a:noFill/>
        </p:spPr>
        <p:txBody>
          <a:bodyPr wrap="square" lIns="36576" tIns="36576" rIns="36576" bIns="36576" anchor="t">
            <a:spAutoFit/>
          </a:bodyPr>
          <a:lstStyle/>
          <a:p>
            <a:pPr algn="l">
              <a:lnSpc>
                <a:spcPct val="100000"/>
              </a:lnSpc>
            </a:pPr>
            <a:r>
              <a:rPr sz="1320" b="1">
                <a:solidFill>
                  <a:srgbClr val="13233A"/>
                </a:solidFill>
                <a:latin typeface="Aptos"/>
              </a:rPr>
              <a:t>Métrica central: balance neto</a:t>
            </a:r>
          </a:p>
        </p:txBody>
      </p:sp>
      <p:sp>
        <p:nvSpPr>
          <p:cNvPr id="36" name="TextBox 35"/>
          <p:cNvSpPr txBox="1"/>
          <p:nvPr/>
        </p:nvSpPr>
        <p:spPr>
          <a:xfrm>
            <a:off x="5257800" y="5157216"/>
            <a:ext cx="5989320" cy="384048"/>
          </a:xfrm>
          <a:prstGeom prst="rect">
            <a:avLst/>
          </a:prstGeom>
          <a:noFill/>
        </p:spPr>
        <p:txBody>
          <a:bodyPr wrap="square" lIns="36576" tIns="36576" rIns="36576" bIns="36576" anchor="t">
            <a:spAutoFit/>
          </a:bodyPr>
          <a:lstStyle/>
          <a:p>
            <a:pPr algn="l">
              <a:lnSpc>
                <a:spcPct val="100000"/>
              </a:lnSpc>
            </a:pPr>
            <a:r>
              <a:rPr sz="1230" b="0">
                <a:solidFill>
                  <a:srgbClr val="242B32"/>
                </a:solidFill>
                <a:latin typeface="Aptos"/>
              </a:rPr>
              <a:t>% pros − % cons. Evita que los porcentajes relativos engañen.</a:t>
            </a:r>
          </a:p>
        </p:txBody>
      </p:sp>
      <p:sp>
        <p:nvSpPr>
          <p:cNvPr id="37" name="Rounded Rectangle 36"/>
          <p:cNvSpPr/>
          <p:nvPr/>
        </p:nvSpPr>
        <p:spPr>
          <a:xfrm>
            <a:off x="548640" y="6035040"/>
            <a:ext cx="11082528" cy="365760"/>
          </a:xfrm>
          <a:prstGeom prst="roundRect">
            <a:avLst/>
          </a:prstGeom>
          <a:solidFill>
            <a:srgbClr val="13233A"/>
          </a:solidFill>
          <a:ln>
            <a:solidFill>
              <a:srgbClr val="13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1520" y="6117336"/>
            <a:ext cx="10744200" cy="182880"/>
          </a:xfrm>
          <a:prstGeom prst="rect">
            <a:avLst/>
          </a:prstGeom>
          <a:noFill/>
        </p:spPr>
        <p:txBody>
          <a:bodyPr wrap="square" lIns="36576" tIns="36576" rIns="36576" bIns="36576" anchor="t">
            <a:spAutoFit/>
          </a:bodyPr>
          <a:lstStyle/>
          <a:p>
            <a:pPr algn="ctr">
              <a:lnSpc>
                <a:spcPct val="100000"/>
              </a:lnSpc>
            </a:pPr>
            <a:r>
              <a:rPr sz="950" b="1">
                <a:solidFill>
                  <a:srgbClr val="FFFFFF"/>
                </a:solidFill>
                <a:latin typeface="Aptos"/>
              </a:rPr>
              <a:t>Stack: Python · Hugging Face Transformers · BERTopic · sentence-transformers · UMAP · HDBSCAN</a:t>
            </a:r>
          </a:p>
        </p:txBody>
      </p:sp>
      <p:cxnSp>
        <p:nvCxnSpPr>
          <p:cNvPr id="39" name="Connector 38"/>
          <p:cNvCxnSpPr/>
          <p:nvPr/>
        </p:nvCxnSpPr>
        <p:spPr>
          <a:xfrm>
            <a:off x="548640" y="6473952"/>
            <a:ext cx="11082528" cy="0"/>
          </a:xfrm>
          <a:prstGeom prst="line">
            <a:avLst/>
          </a:prstGeom>
          <a:ln w="8890">
            <a:solidFill>
              <a:srgbClr val="E0E4E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48640" y="6519672"/>
            <a:ext cx="11064240" cy="182880"/>
          </a:xfrm>
          <a:prstGeom prst="rect">
            <a:avLst/>
          </a:prstGeom>
          <a:noFill/>
        </p:spPr>
        <p:txBody>
          <a:bodyPr wrap="square" lIns="36576" tIns="36576" rIns="36576" bIns="36576" anchor="t">
            <a:spAutoFit/>
          </a:bodyPr>
          <a:lstStyle/>
          <a:p>
            <a:pPr algn="l">
              <a:lnSpc>
                <a:spcPct val="100000"/>
              </a:lnSpc>
            </a:pPr>
            <a:r>
              <a:rPr sz="750" b="0">
                <a:solidFill>
                  <a:srgbClr val="66707A"/>
                </a:solidFill>
                <a:latin typeface="Aptos"/>
              </a:rPr>
              <a:t>Fuente: Glassdoor Job Reviews 1+2 (Kaggle) · 2018–2023 · análisis propio</a:t>
            </a:r>
          </a:p>
        </p:txBody>
      </p:sp>
      <p:grpSp>
        <p:nvGrpSpPr>
          <p:cNvPr id="43" name="Grupo 42">
            <a:extLst>
              <a:ext uri="{FF2B5EF4-FFF2-40B4-BE49-F238E27FC236}">
                <a16:creationId xmlns:a16="http://schemas.microsoft.com/office/drawing/2014/main" id="{C9972F3E-DCB2-D899-A0E0-788D6C850FDB}"/>
              </a:ext>
            </a:extLst>
          </p:cNvPr>
          <p:cNvGrpSpPr/>
          <p:nvPr/>
        </p:nvGrpSpPr>
        <p:grpSpPr>
          <a:xfrm>
            <a:off x="9000000" y="360000"/>
            <a:ext cx="2603550" cy="204671"/>
            <a:chOff x="8548980" y="598006"/>
            <a:chExt cx="2603550" cy="204671"/>
          </a:xfrm>
        </p:grpSpPr>
        <p:sp>
          <p:nvSpPr>
            <p:cNvPr id="44" name="TextBox 3">
              <a:extLst>
                <a:ext uri="{FF2B5EF4-FFF2-40B4-BE49-F238E27FC236}">
                  <a16:creationId xmlns:a16="http://schemas.microsoft.com/office/drawing/2014/main" id="{F6088A49-3C50-AC5C-99D8-4EA74E32131A}"/>
                </a:ext>
              </a:extLst>
            </p:cNvPr>
            <p:cNvSpPr txBox="1"/>
            <p:nvPr/>
          </p:nvSpPr>
          <p:spPr>
            <a:xfrm>
              <a:off x="9014460" y="598006"/>
              <a:ext cx="1554480" cy="204671"/>
            </a:xfrm>
            <a:prstGeom prst="rect">
              <a:avLst/>
            </a:prstGeom>
            <a:noFill/>
          </p:spPr>
          <p:txBody>
            <a:bodyPr wrap="square" lIns="36576" tIns="36576" rIns="36576" bIns="36576" anchor="t">
              <a:spAutoFit/>
            </a:bodyPr>
            <a:lstStyle/>
            <a:p>
              <a:pPr>
                <a:lnSpc>
                  <a:spcPct val="100000"/>
                </a:lnSpc>
              </a:pPr>
              <a:r>
                <a:rPr sz="850" b="1" dirty="0">
                  <a:solidFill>
                    <a:srgbClr val="66707A"/>
                  </a:solidFill>
                  <a:latin typeface="Aptos"/>
                </a:rPr>
                <a:t>02 · </a:t>
              </a:r>
              <a:r>
                <a:rPr sz="850" b="1" dirty="0" err="1">
                  <a:solidFill>
                    <a:srgbClr val="66707A"/>
                  </a:solidFill>
                  <a:latin typeface="Aptos"/>
                </a:rPr>
                <a:t>METODOLOGÍA</a:t>
              </a:r>
              <a:endParaRPr sz="850" b="1" dirty="0">
                <a:solidFill>
                  <a:srgbClr val="66707A"/>
                </a:solidFill>
                <a:latin typeface="Aptos"/>
              </a:endParaRPr>
            </a:p>
          </p:txBody>
        </p:sp>
        <p:grpSp>
          <p:nvGrpSpPr>
            <p:cNvPr id="45" name="Grupo 44">
              <a:extLst>
                <a:ext uri="{FF2B5EF4-FFF2-40B4-BE49-F238E27FC236}">
                  <a16:creationId xmlns:a16="http://schemas.microsoft.com/office/drawing/2014/main" id="{E4DC34CF-55B1-CABA-9EC3-43B83B75DB2A}"/>
                </a:ext>
              </a:extLst>
            </p:cNvPr>
            <p:cNvGrpSpPr/>
            <p:nvPr/>
          </p:nvGrpSpPr>
          <p:grpSpPr>
            <a:xfrm>
              <a:off x="8548980" y="656234"/>
              <a:ext cx="2603550" cy="108000"/>
              <a:chOff x="5671770" y="656234"/>
              <a:chExt cx="2603550" cy="108000"/>
            </a:xfrm>
          </p:grpSpPr>
          <p:sp>
            <p:nvSpPr>
              <p:cNvPr id="46" name="Diagrama de flujo: conector 45">
                <a:extLst>
                  <a:ext uri="{FF2B5EF4-FFF2-40B4-BE49-F238E27FC236}">
                    <a16:creationId xmlns:a16="http://schemas.microsoft.com/office/drawing/2014/main" id="{A0076795-868F-F16A-46F3-7C74507BBD6A}"/>
                  </a:ext>
                </a:extLst>
              </p:cNvPr>
              <p:cNvSpPr/>
              <p:nvPr/>
            </p:nvSpPr>
            <p:spPr>
              <a:xfrm>
                <a:off x="5671770" y="656234"/>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7" name="Diagrama de flujo: conector 46">
                <a:extLst>
                  <a:ext uri="{FF2B5EF4-FFF2-40B4-BE49-F238E27FC236}">
                    <a16:creationId xmlns:a16="http://schemas.microsoft.com/office/drawing/2014/main" id="{5B4E5F88-B7D9-BF56-9D40-A3502310CB5D}"/>
                  </a:ext>
                </a:extLst>
              </p:cNvPr>
              <p:cNvSpPr/>
              <p:nvPr/>
            </p:nvSpPr>
            <p:spPr>
              <a:xfrm>
                <a:off x="5824170" y="656234"/>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8" name="Diagrama de flujo: conector 47">
                <a:extLst>
                  <a:ext uri="{FF2B5EF4-FFF2-40B4-BE49-F238E27FC236}">
                    <a16:creationId xmlns:a16="http://schemas.microsoft.com/office/drawing/2014/main" id="{AFA7FC28-E20B-2ADD-92E9-3943D03933DF}"/>
                  </a:ext>
                </a:extLst>
              </p:cNvPr>
              <p:cNvSpPr/>
              <p:nvPr/>
            </p:nvSpPr>
            <p:spPr>
              <a:xfrm>
                <a:off x="7405320" y="656234"/>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9" name="Diagrama de flujo: conector 48">
                <a:extLst>
                  <a:ext uri="{FF2B5EF4-FFF2-40B4-BE49-F238E27FC236}">
                    <a16:creationId xmlns:a16="http://schemas.microsoft.com/office/drawing/2014/main" id="{16780F94-C48C-7072-632F-ABF64E6B4D13}"/>
                  </a:ext>
                </a:extLst>
              </p:cNvPr>
              <p:cNvSpPr/>
              <p:nvPr/>
            </p:nvSpPr>
            <p:spPr>
              <a:xfrm>
                <a:off x="7557720" y="656234"/>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0" name="Diagrama de flujo: conector 49">
                <a:extLst>
                  <a:ext uri="{FF2B5EF4-FFF2-40B4-BE49-F238E27FC236}">
                    <a16:creationId xmlns:a16="http://schemas.microsoft.com/office/drawing/2014/main" id="{948C3C08-5F51-0353-AF88-91C3253D861E}"/>
                  </a:ext>
                </a:extLst>
              </p:cNvPr>
              <p:cNvSpPr/>
              <p:nvPr/>
            </p:nvSpPr>
            <p:spPr>
              <a:xfrm>
                <a:off x="7710120" y="656234"/>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1" name="Diagrama de flujo: conector 50">
                <a:extLst>
                  <a:ext uri="{FF2B5EF4-FFF2-40B4-BE49-F238E27FC236}">
                    <a16:creationId xmlns:a16="http://schemas.microsoft.com/office/drawing/2014/main" id="{FD895D53-CB33-402B-9F26-41B93D9A9048}"/>
                  </a:ext>
                </a:extLst>
              </p:cNvPr>
              <p:cNvSpPr/>
              <p:nvPr/>
            </p:nvSpPr>
            <p:spPr>
              <a:xfrm>
                <a:off x="7862520" y="656234"/>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2" name="Diagrama de flujo: conector 51">
                <a:extLst>
                  <a:ext uri="{FF2B5EF4-FFF2-40B4-BE49-F238E27FC236}">
                    <a16:creationId xmlns:a16="http://schemas.microsoft.com/office/drawing/2014/main" id="{402D6FB7-DBEC-3FCF-8B45-0C535DEB001A}"/>
                  </a:ext>
                </a:extLst>
              </p:cNvPr>
              <p:cNvSpPr/>
              <p:nvPr/>
            </p:nvSpPr>
            <p:spPr>
              <a:xfrm>
                <a:off x="8014920" y="656234"/>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3" name="Diagrama de flujo: conector 52">
                <a:extLst>
                  <a:ext uri="{FF2B5EF4-FFF2-40B4-BE49-F238E27FC236}">
                    <a16:creationId xmlns:a16="http://schemas.microsoft.com/office/drawing/2014/main" id="{24FAEFE4-BCB6-AEB7-1F81-4EF52DBF9776}"/>
                  </a:ext>
                </a:extLst>
              </p:cNvPr>
              <p:cNvSpPr/>
              <p:nvPr/>
            </p:nvSpPr>
            <p:spPr>
              <a:xfrm>
                <a:off x="8167320" y="656234"/>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grpSp>
      </p:grpSp>
      <p:sp>
        <p:nvSpPr>
          <p:cNvPr id="4" name="Rectángulo 3">
            <a:extLst>
              <a:ext uri="{FF2B5EF4-FFF2-40B4-BE49-F238E27FC236}">
                <a16:creationId xmlns:a16="http://schemas.microsoft.com/office/drawing/2014/main" id="{ADAAF40E-71E0-3338-E503-6F62C9C6A564}"/>
              </a:ext>
            </a:extLst>
          </p:cNvPr>
          <p:cNvSpPr/>
          <p:nvPr/>
        </p:nvSpPr>
        <p:spPr>
          <a:xfrm>
            <a:off x="-17070" y="0"/>
            <a:ext cx="302820" cy="6858000"/>
          </a:xfrm>
          <a:prstGeom prst="rect">
            <a:avLst/>
          </a:prstGeom>
          <a:gradFill flip="none" rotWithShape="1">
            <a:gsLst>
              <a:gs pos="0">
                <a:schemeClr val="tx2">
                  <a:lumMod val="50000"/>
                </a:schemeClr>
              </a:gs>
              <a:gs pos="58000">
                <a:srgbClr val="E5E7EE"/>
              </a:gs>
              <a:gs pos="29000">
                <a:schemeClr val="tx2">
                  <a:tint val="44500"/>
                  <a:satMod val="160000"/>
                </a:schemeClr>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3303270" cy="458587"/>
          </a:xfrm>
          <a:prstGeom prst="rect">
            <a:avLst/>
          </a:prstGeom>
          <a:noFill/>
        </p:spPr>
        <p:txBody>
          <a:bodyPr wrap="square" lIns="36576" tIns="36576" rIns="36576" bIns="36576" anchor="t">
            <a:spAutoFit/>
          </a:bodyPr>
          <a:lstStyle/>
          <a:p>
            <a:pPr algn="l">
              <a:lnSpc>
                <a:spcPct val="100000"/>
              </a:lnSpc>
            </a:pPr>
            <a:r>
              <a:rPr lang="es-MX" sz="2500" b="1" dirty="0">
                <a:solidFill>
                  <a:srgbClr val="13233A"/>
                </a:solidFill>
                <a:latin typeface="Aptos"/>
              </a:rPr>
              <a:t>V</a:t>
            </a:r>
            <a:r>
              <a:rPr sz="2500" b="1" dirty="0" err="1">
                <a:solidFill>
                  <a:srgbClr val="13233A"/>
                </a:solidFill>
                <a:latin typeface="Aptos"/>
              </a:rPr>
              <a:t>alora</a:t>
            </a:r>
            <a:r>
              <a:rPr lang="es-MX" sz="2500" b="1" dirty="0" err="1">
                <a:solidFill>
                  <a:srgbClr val="13233A"/>
                </a:solidFill>
                <a:latin typeface="Aptos"/>
              </a:rPr>
              <a:t>ción</a:t>
            </a:r>
            <a:r>
              <a:rPr lang="es-MX" sz="2500" b="1" dirty="0">
                <a:solidFill>
                  <a:srgbClr val="13233A"/>
                </a:solidFill>
                <a:latin typeface="Aptos"/>
              </a:rPr>
              <a:t> por</a:t>
            </a:r>
            <a:r>
              <a:rPr sz="2500" b="1" dirty="0">
                <a:solidFill>
                  <a:srgbClr val="13233A"/>
                </a:solidFill>
                <a:latin typeface="Aptos"/>
              </a:rPr>
              <a:t> </a:t>
            </a:r>
            <a:r>
              <a:rPr sz="2500" b="1" dirty="0" err="1">
                <a:solidFill>
                  <a:srgbClr val="13233A"/>
                </a:solidFill>
                <a:latin typeface="Aptos"/>
              </a:rPr>
              <a:t>grupo</a:t>
            </a:r>
            <a:endParaRPr sz="2500" b="1" dirty="0">
              <a:solidFill>
                <a:srgbClr val="13233A"/>
              </a:solidFill>
              <a:latin typeface="Aptos"/>
            </a:endParaRPr>
          </a:p>
        </p:txBody>
      </p:sp>
      <p:sp>
        <p:nvSpPr>
          <p:cNvPr id="3" name="Rectangle 2"/>
          <p:cNvSpPr/>
          <p:nvPr/>
        </p:nvSpPr>
        <p:spPr>
          <a:xfrm>
            <a:off x="548640" y="896112"/>
            <a:ext cx="1051560" cy="32004"/>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1.png"/>
          <p:cNvPicPr>
            <a:picLocks noChangeAspect="1"/>
          </p:cNvPicPr>
          <p:nvPr/>
        </p:nvPicPr>
        <p:blipFill>
          <a:blip r:embed="rId3"/>
          <a:stretch>
            <a:fillRect/>
          </a:stretch>
        </p:blipFill>
        <p:spPr>
          <a:xfrm>
            <a:off x="384879" y="2075687"/>
            <a:ext cx="5715000" cy="2907792"/>
          </a:xfrm>
          <a:prstGeom prst="rect">
            <a:avLst/>
          </a:prstGeom>
        </p:spPr>
      </p:pic>
      <p:grpSp>
        <p:nvGrpSpPr>
          <p:cNvPr id="36" name="Grupo 35">
            <a:extLst>
              <a:ext uri="{FF2B5EF4-FFF2-40B4-BE49-F238E27FC236}">
                <a16:creationId xmlns:a16="http://schemas.microsoft.com/office/drawing/2014/main" id="{EC6A0B5A-AD5D-176C-94B6-1EF1D04D2C77}"/>
              </a:ext>
            </a:extLst>
          </p:cNvPr>
          <p:cNvGrpSpPr/>
          <p:nvPr/>
        </p:nvGrpSpPr>
        <p:grpSpPr>
          <a:xfrm>
            <a:off x="6400800" y="1511252"/>
            <a:ext cx="5230368" cy="2907792"/>
            <a:chOff x="6400800" y="1261872"/>
            <a:chExt cx="5230368" cy="2907792"/>
          </a:xfrm>
        </p:grpSpPr>
        <p:sp>
          <p:nvSpPr>
            <p:cNvPr id="6" name="Rounded Rectangle 5"/>
            <p:cNvSpPr/>
            <p:nvPr/>
          </p:nvSpPr>
          <p:spPr>
            <a:xfrm>
              <a:off x="6400800" y="1261872"/>
              <a:ext cx="5230368" cy="2907792"/>
            </a:xfrm>
            <a:prstGeom prst="roundRect">
              <a:avLst>
                <a:gd name="adj" fmla="val 8000"/>
              </a:avLst>
            </a:prstGeom>
            <a:solidFill>
              <a:srgbClr val="FFFFFF"/>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93992" y="1435608"/>
              <a:ext cx="1691640" cy="228600"/>
            </a:xfrm>
            <a:prstGeom prst="rect">
              <a:avLst/>
            </a:prstGeom>
            <a:noFill/>
          </p:spPr>
          <p:txBody>
            <a:bodyPr wrap="square" lIns="36576" tIns="36576" rIns="36576" bIns="36576" anchor="t">
              <a:spAutoFit/>
            </a:bodyPr>
            <a:lstStyle/>
            <a:p>
              <a:pPr algn="l">
                <a:lnSpc>
                  <a:spcPct val="100000"/>
                </a:lnSpc>
              </a:pPr>
              <a:r>
                <a:rPr sz="850" b="1">
                  <a:solidFill>
                    <a:srgbClr val="66707A"/>
                  </a:solidFill>
                  <a:latin typeface="Aptos"/>
                </a:rPr>
                <a:t>Empresa</a:t>
              </a:r>
            </a:p>
          </p:txBody>
        </p:sp>
        <p:sp>
          <p:nvSpPr>
            <p:cNvPr id="8" name="TextBox 7"/>
            <p:cNvSpPr txBox="1"/>
            <p:nvPr/>
          </p:nvSpPr>
          <p:spPr>
            <a:xfrm>
              <a:off x="8531352" y="1435608"/>
              <a:ext cx="731520" cy="228600"/>
            </a:xfrm>
            <a:prstGeom prst="rect">
              <a:avLst/>
            </a:prstGeom>
            <a:noFill/>
          </p:spPr>
          <p:txBody>
            <a:bodyPr wrap="square" lIns="36576" tIns="36576" rIns="36576" bIns="36576" anchor="t">
              <a:spAutoFit/>
            </a:bodyPr>
            <a:lstStyle/>
            <a:p>
              <a:pPr algn="l">
                <a:lnSpc>
                  <a:spcPct val="100000"/>
                </a:lnSpc>
              </a:pPr>
              <a:r>
                <a:rPr sz="850" b="1">
                  <a:solidFill>
                    <a:srgbClr val="66707A"/>
                  </a:solidFill>
                  <a:latin typeface="Aptos"/>
                </a:rPr>
                <a:t>Rating</a:t>
              </a:r>
            </a:p>
          </p:txBody>
        </p:sp>
        <p:sp>
          <p:nvSpPr>
            <p:cNvPr id="9" name="TextBox 8"/>
            <p:cNvSpPr txBox="1"/>
            <p:nvPr/>
          </p:nvSpPr>
          <p:spPr>
            <a:xfrm>
              <a:off x="9418320" y="1435608"/>
              <a:ext cx="822960" cy="228600"/>
            </a:xfrm>
            <a:prstGeom prst="rect">
              <a:avLst/>
            </a:prstGeom>
            <a:noFill/>
          </p:spPr>
          <p:txBody>
            <a:bodyPr wrap="square" lIns="36576" tIns="36576" rIns="36576" bIns="36576" anchor="t">
              <a:spAutoFit/>
            </a:bodyPr>
            <a:lstStyle/>
            <a:p>
              <a:pPr algn="l">
                <a:lnSpc>
                  <a:spcPct val="100000"/>
                </a:lnSpc>
              </a:pPr>
              <a:r>
                <a:rPr sz="850" b="1" dirty="0">
                  <a:solidFill>
                    <a:srgbClr val="66707A"/>
                  </a:solidFill>
                  <a:latin typeface="Aptos"/>
                </a:rPr>
                <a:t>% Rec.</a:t>
              </a:r>
            </a:p>
          </p:txBody>
        </p:sp>
        <p:sp>
          <p:nvSpPr>
            <p:cNvPr id="10" name="TextBox 9"/>
            <p:cNvSpPr txBox="1"/>
            <p:nvPr/>
          </p:nvSpPr>
          <p:spPr>
            <a:xfrm>
              <a:off x="10405872" y="1435608"/>
              <a:ext cx="960120" cy="228600"/>
            </a:xfrm>
            <a:prstGeom prst="rect">
              <a:avLst/>
            </a:prstGeom>
            <a:noFill/>
          </p:spPr>
          <p:txBody>
            <a:bodyPr wrap="square" lIns="36576" tIns="36576" rIns="36576" bIns="36576" anchor="t">
              <a:spAutoFit/>
            </a:bodyPr>
            <a:lstStyle/>
            <a:p>
              <a:pPr algn="l">
                <a:lnSpc>
                  <a:spcPct val="100000"/>
                </a:lnSpc>
              </a:pPr>
              <a:r>
                <a:rPr sz="850" b="1">
                  <a:solidFill>
                    <a:srgbClr val="66707A"/>
                  </a:solidFill>
                  <a:latin typeface="Aptos"/>
                </a:rPr>
                <a:t>% No rec.</a:t>
              </a:r>
            </a:p>
          </p:txBody>
        </p:sp>
        <p:sp>
          <p:nvSpPr>
            <p:cNvPr id="11" name="Rounded Rectangle 10"/>
            <p:cNvSpPr/>
            <p:nvPr/>
          </p:nvSpPr>
          <p:spPr>
            <a:xfrm>
              <a:off x="6510528" y="1709928"/>
              <a:ext cx="5010912" cy="429768"/>
            </a:xfrm>
            <a:prstGeom prst="roundRect">
              <a:avLst>
                <a:gd name="adj" fmla="val 8000"/>
              </a:avLst>
            </a:prstGeom>
            <a:solidFill>
              <a:srgbClr val="E8F1F9"/>
            </a:solidFill>
            <a:ln>
              <a:solidFill>
                <a:srgbClr val="E8F1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400" y="1764792"/>
              <a:ext cx="1691640" cy="228600"/>
            </a:xfrm>
            <a:prstGeom prst="rect">
              <a:avLst/>
            </a:prstGeom>
            <a:noFill/>
          </p:spPr>
          <p:txBody>
            <a:bodyPr wrap="square" lIns="36576" tIns="36576" rIns="36576" bIns="36576" anchor="t">
              <a:spAutoFit/>
            </a:bodyPr>
            <a:lstStyle/>
            <a:p>
              <a:pPr algn="l">
                <a:lnSpc>
                  <a:spcPct val="100000"/>
                </a:lnSpc>
              </a:pPr>
              <a:r>
                <a:rPr sz="1120" b="1">
                  <a:solidFill>
                    <a:srgbClr val="13233A"/>
                  </a:solidFill>
                  <a:latin typeface="Aptos"/>
                </a:rPr>
                <a:t>Deutsche Bank</a:t>
              </a:r>
            </a:p>
          </p:txBody>
        </p:sp>
        <p:sp>
          <p:nvSpPr>
            <p:cNvPr id="13" name="TextBox 12"/>
            <p:cNvSpPr txBox="1"/>
            <p:nvPr/>
          </p:nvSpPr>
          <p:spPr>
            <a:xfrm>
              <a:off x="8485632" y="1764792"/>
              <a:ext cx="731520" cy="228600"/>
            </a:xfrm>
            <a:prstGeom prst="rect">
              <a:avLst/>
            </a:prstGeom>
            <a:noFill/>
          </p:spPr>
          <p:txBody>
            <a:bodyPr wrap="square" lIns="36576" tIns="36576" rIns="36576" bIns="36576" anchor="t">
              <a:spAutoFit/>
            </a:bodyPr>
            <a:lstStyle/>
            <a:p>
              <a:pPr algn="r">
                <a:lnSpc>
                  <a:spcPct val="100000"/>
                </a:lnSpc>
              </a:pPr>
              <a:r>
                <a:rPr sz="1120" b="1">
                  <a:solidFill>
                    <a:srgbClr val="13233A"/>
                  </a:solidFill>
                  <a:latin typeface="Aptos"/>
                </a:rPr>
                <a:t>3.73</a:t>
              </a:r>
            </a:p>
          </p:txBody>
        </p:sp>
        <p:sp>
          <p:nvSpPr>
            <p:cNvPr id="14" name="TextBox 13"/>
            <p:cNvSpPr txBox="1"/>
            <p:nvPr/>
          </p:nvSpPr>
          <p:spPr>
            <a:xfrm>
              <a:off x="9308592" y="1764792"/>
              <a:ext cx="822960" cy="228600"/>
            </a:xfrm>
            <a:prstGeom prst="rect">
              <a:avLst/>
            </a:prstGeom>
            <a:noFill/>
          </p:spPr>
          <p:txBody>
            <a:bodyPr wrap="square" lIns="36576" tIns="36576" rIns="36576" bIns="36576" anchor="t">
              <a:spAutoFit/>
            </a:bodyPr>
            <a:lstStyle/>
            <a:p>
              <a:pPr algn="r">
                <a:lnSpc>
                  <a:spcPct val="100000"/>
                </a:lnSpc>
              </a:pPr>
              <a:r>
                <a:rPr sz="1120" b="1">
                  <a:solidFill>
                    <a:srgbClr val="13233A"/>
                  </a:solidFill>
                  <a:latin typeface="Aptos"/>
                </a:rPr>
                <a:t>41.4%</a:t>
              </a:r>
            </a:p>
          </p:txBody>
        </p:sp>
        <p:sp>
          <p:nvSpPr>
            <p:cNvPr id="15" name="TextBox 14"/>
            <p:cNvSpPr txBox="1"/>
            <p:nvPr/>
          </p:nvSpPr>
          <p:spPr>
            <a:xfrm>
              <a:off x="10332720" y="1764792"/>
              <a:ext cx="960120" cy="228600"/>
            </a:xfrm>
            <a:prstGeom prst="rect">
              <a:avLst/>
            </a:prstGeom>
            <a:noFill/>
          </p:spPr>
          <p:txBody>
            <a:bodyPr wrap="square" lIns="36576" tIns="36576" rIns="36576" bIns="36576" anchor="t">
              <a:spAutoFit/>
            </a:bodyPr>
            <a:lstStyle/>
            <a:p>
              <a:pPr algn="r">
                <a:lnSpc>
                  <a:spcPct val="100000"/>
                </a:lnSpc>
              </a:pPr>
              <a:r>
                <a:rPr sz="1120" b="1">
                  <a:solidFill>
                    <a:srgbClr val="13233A"/>
                  </a:solidFill>
                  <a:latin typeface="Aptos"/>
                </a:rPr>
                <a:t>20.4%</a:t>
              </a:r>
            </a:p>
          </p:txBody>
        </p:sp>
        <p:sp>
          <p:nvSpPr>
            <p:cNvPr id="16" name="TextBox 15"/>
            <p:cNvSpPr txBox="1"/>
            <p:nvPr/>
          </p:nvSpPr>
          <p:spPr>
            <a:xfrm>
              <a:off x="6629400" y="2194560"/>
              <a:ext cx="1691640" cy="228600"/>
            </a:xfrm>
            <a:prstGeom prst="rect">
              <a:avLst/>
            </a:prstGeom>
            <a:noFill/>
          </p:spPr>
          <p:txBody>
            <a:bodyPr wrap="square" lIns="36576" tIns="36576" rIns="36576" bIns="36576" anchor="t">
              <a:spAutoFit/>
            </a:bodyPr>
            <a:lstStyle/>
            <a:p>
              <a:pPr algn="l">
                <a:lnSpc>
                  <a:spcPct val="100000"/>
                </a:lnSpc>
              </a:pPr>
              <a:r>
                <a:rPr sz="1120" b="0">
                  <a:solidFill>
                    <a:srgbClr val="242B32"/>
                  </a:solidFill>
                  <a:latin typeface="Aptos"/>
                </a:rPr>
                <a:t>J-P-Morgan</a:t>
              </a:r>
            </a:p>
          </p:txBody>
        </p:sp>
        <p:sp>
          <p:nvSpPr>
            <p:cNvPr id="17" name="TextBox 16"/>
            <p:cNvSpPr txBox="1"/>
            <p:nvPr/>
          </p:nvSpPr>
          <p:spPr>
            <a:xfrm>
              <a:off x="8485632" y="2194560"/>
              <a:ext cx="731520" cy="228600"/>
            </a:xfrm>
            <a:prstGeom prst="rect">
              <a:avLst/>
            </a:prstGeom>
            <a:noFill/>
          </p:spPr>
          <p:txBody>
            <a:bodyPr wrap="square" lIns="36576" tIns="36576" rIns="36576" bIns="36576" anchor="t">
              <a:spAutoFit/>
            </a:bodyPr>
            <a:lstStyle/>
            <a:p>
              <a:pPr algn="r">
                <a:lnSpc>
                  <a:spcPct val="100000"/>
                </a:lnSpc>
              </a:pPr>
              <a:r>
                <a:rPr sz="1120" b="0">
                  <a:solidFill>
                    <a:srgbClr val="242B32"/>
                  </a:solidFill>
                  <a:latin typeface="Aptos"/>
                </a:rPr>
                <a:t>3.91</a:t>
              </a:r>
            </a:p>
          </p:txBody>
        </p:sp>
        <p:sp>
          <p:nvSpPr>
            <p:cNvPr id="18" name="TextBox 17"/>
            <p:cNvSpPr txBox="1"/>
            <p:nvPr/>
          </p:nvSpPr>
          <p:spPr>
            <a:xfrm>
              <a:off x="9308592" y="2194560"/>
              <a:ext cx="822960" cy="228600"/>
            </a:xfrm>
            <a:prstGeom prst="rect">
              <a:avLst/>
            </a:prstGeom>
            <a:noFill/>
          </p:spPr>
          <p:txBody>
            <a:bodyPr wrap="square" lIns="36576" tIns="36576" rIns="36576" bIns="36576" anchor="t">
              <a:spAutoFit/>
            </a:bodyPr>
            <a:lstStyle/>
            <a:p>
              <a:pPr algn="r">
                <a:lnSpc>
                  <a:spcPct val="100000"/>
                </a:lnSpc>
              </a:pPr>
              <a:r>
                <a:rPr sz="1120" b="0">
                  <a:solidFill>
                    <a:srgbClr val="242B32"/>
                  </a:solidFill>
                  <a:latin typeface="Aptos"/>
                </a:rPr>
                <a:t>52.6%</a:t>
              </a:r>
            </a:p>
          </p:txBody>
        </p:sp>
        <p:sp>
          <p:nvSpPr>
            <p:cNvPr id="19" name="TextBox 18"/>
            <p:cNvSpPr txBox="1"/>
            <p:nvPr/>
          </p:nvSpPr>
          <p:spPr>
            <a:xfrm>
              <a:off x="10332720" y="2194560"/>
              <a:ext cx="960120" cy="228600"/>
            </a:xfrm>
            <a:prstGeom prst="rect">
              <a:avLst/>
            </a:prstGeom>
            <a:noFill/>
          </p:spPr>
          <p:txBody>
            <a:bodyPr wrap="square" lIns="36576" tIns="36576" rIns="36576" bIns="36576" anchor="t">
              <a:spAutoFit/>
            </a:bodyPr>
            <a:lstStyle/>
            <a:p>
              <a:pPr algn="r">
                <a:lnSpc>
                  <a:spcPct val="100000"/>
                </a:lnSpc>
              </a:pPr>
              <a:r>
                <a:rPr sz="1120" b="0">
                  <a:solidFill>
                    <a:srgbClr val="242B32"/>
                  </a:solidFill>
                  <a:latin typeface="Aptos"/>
                </a:rPr>
                <a:t>14.2%</a:t>
              </a:r>
            </a:p>
          </p:txBody>
        </p:sp>
        <p:sp>
          <p:nvSpPr>
            <p:cNvPr id="20" name="TextBox 19"/>
            <p:cNvSpPr txBox="1"/>
            <p:nvPr/>
          </p:nvSpPr>
          <p:spPr>
            <a:xfrm>
              <a:off x="6629400" y="2624328"/>
              <a:ext cx="1691640" cy="228600"/>
            </a:xfrm>
            <a:prstGeom prst="rect">
              <a:avLst/>
            </a:prstGeom>
            <a:noFill/>
          </p:spPr>
          <p:txBody>
            <a:bodyPr wrap="square" lIns="36576" tIns="36576" rIns="36576" bIns="36576" anchor="t">
              <a:spAutoFit/>
            </a:bodyPr>
            <a:lstStyle/>
            <a:p>
              <a:pPr algn="l">
                <a:lnSpc>
                  <a:spcPct val="100000"/>
                </a:lnSpc>
              </a:pPr>
              <a:r>
                <a:rPr sz="1120" b="0">
                  <a:solidFill>
                    <a:srgbClr val="242B32"/>
                  </a:solidFill>
                  <a:latin typeface="Aptos"/>
                </a:rPr>
                <a:t>Barclays</a:t>
              </a:r>
            </a:p>
          </p:txBody>
        </p:sp>
        <p:sp>
          <p:nvSpPr>
            <p:cNvPr id="21" name="TextBox 20"/>
            <p:cNvSpPr txBox="1"/>
            <p:nvPr/>
          </p:nvSpPr>
          <p:spPr>
            <a:xfrm>
              <a:off x="8485632" y="2624328"/>
              <a:ext cx="731520" cy="228600"/>
            </a:xfrm>
            <a:prstGeom prst="rect">
              <a:avLst/>
            </a:prstGeom>
            <a:noFill/>
          </p:spPr>
          <p:txBody>
            <a:bodyPr wrap="square" lIns="36576" tIns="36576" rIns="36576" bIns="36576" anchor="t">
              <a:spAutoFit/>
            </a:bodyPr>
            <a:lstStyle/>
            <a:p>
              <a:pPr algn="r">
                <a:lnSpc>
                  <a:spcPct val="100000"/>
                </a:lnSpc>
              </a:pPr>
              <a:r>
                <a:rPr sz="1120" b="0">
                  <a:solidFill>
                    <a:srgbClr val="242B32"/>
                  </a:solidFill>
                  <a:latin typeface="Aptos"/>
                </a:rPr>
                <a:t>3.90</a:t>
              </a:r>
            </a:p>
          </p:txBody>
        </p:sp>
        <p:sp>
          <p:nvSpPr>
            <p:cNvPr id="22" name="TextBox 21"/>
            <p:cNvSpPr txBox="1"/>
            <p:nvPr/>
          </p:nvSpPr>
          <p:spPr>
            <a:xfrm>
              <a:off x="9308592" y="2624328"/>
              <a:ext cx="822960" cy="228600"/>
            </a:xfrm>
            <a:prstGeom prst="rect">
              <a:avLst/>
            </a:prstGeom>
            <a:noFill/>
          </p:spPr>
          <p:txBody>
            <a:bodyPr wrap="square" lIns="36576" tIns="36576" rIns="36576" bIns="36576" anchor="t">
              <a:spAutoFit/>
            </a:bodyPr>
            <a:lstStyle/>
            <a:p>
              <a:pPr algn="r">
                <a:lnSpc>
                  <a:spcPct val="100000"/>
                </a:lnSpc>
              </a:pPr>
              <a:r>
                <a:rPr sz="1120" b="0">
                  <a:solidFill>
                    <a:srgbClr val="242B32"/>
                  </a:solidFill>
                  <a:latin typeface="Aptos"/>
                </a:rPr>
                <a:t>47.0%</a:t>
              </a:r>
            </a:p>
          </p:txBody>
        </p:sp>
        <p:sp>
          <p:nvSpPr>
            <p:cNvPr id="23" name="TextBox 22"/>
            <p:cNvSpPr txBox="1"/>
            <p:nvPr/>
          </p:nvSpPr>
          <p:spPr>
            <a:xfrm>
              <a:off x="10332720" y="2624328"/>
              <a:ext cx="960120" cy="228600"/>
            </a:xfrm>
            <a:prstGeom prst="rect">
              <a:avLst/>
            </a:prstGeom>
            <a:noFill/>
          </p:spPr>
          <p:txBody>
            <a:bodyPr wrap="square" lIns="36576" tIns="36576" rIns="36576" bIns="36576" anchor="t">
              <a:spAutoFit/>
            </a:bodyPr>
            <a:lstStyle/>
            <a:p>
              <a:pPr algn="r">
                <a:lnSpc>
                  <a:spcPct val="100000"/>
                </a:lnSpc>
              </a:pPr>
              <a:r>
                <a:rPr sz="1120" b="0">
                  <a:solidFill>
                    <a:srgbClr val="242B32"/>
                  </a:solidFill>
                  <a:latin typeface="Aptos"/>
                </a:rPr>
                <a:t>12.8%</a:t>
              </a:r>
            </a:p>
          </p:txBody>
        </p:sp>
        <p:sp>
          <p:nvSpPr>
            <p:cNvPr id="24" name="TextBox 23"/>
            <p:cNvSpPr txBox="1"/>
            <p:nvPr/>
          </p:nvSpPr>
          <p:spPr>
            <a:xfrm>
              <a:off x="6629400" y="3054096"/>
              <a:ext cx="1691640" cy="228600"/>
            </a:xfrm>
            <a:prstGeom prst="rect">
              <a:avLst/>
            </a:prstGeom>
            <a:noFill/>
          </p:spPr>
          <p:txBody>
            <a:bodyPr wrap="square" lIns="36576" tIns="36576" rIns="36576" bIns="36576" anchor="t">
              <a:spAutoFit/>
            </a:bodyPr>
            <a:lstStyle/>
            <a:p>
              <a:pPr algn="l">
                <a:lnSpc>
                  <a:spcPct val="100000"/>
                </a:lnSpc>
              </a:pPr>
              <a:r>
                <a:rPr sz="1120" b="0">
                  <a:solidFill>
                    <a:srgbClr val="242B32"/>
                  </a:solidFill>
                  <a:latin typeface="Aptos"/>
                </a:rPr>
                <a:t>Citi</a:t>
              </a:r>
            </a:p>
          </p:txBody>
        </p:sp>
        <p:sp>
          <p:nvSpPr>
            <p:cNvPr id="25" name="TextBox 24"/>
            <p:cNvSpPr txBox="1"/>
            <p:nvPr/>
          </p:nvSpPr>
          <p:spPr>
            <a:xfrm>
              <a:off x="8485632" y="3054096"/>
              <a:ext cx="731520" cy="228600"/>
            </a:xfrm>
            <a:prstGeom prst="rect">
              <a:avLst/>
            </a:prstGeom>
            <a:noFill/>
          </p:spPr>
          <p:txBody>
            <a:bodyPr wrap="square" lIns="36576" tIns="36576" rIns="36576" bIns="36576" anchor="t">
              <a:spAutoFit/>
            </a:bodyPr>
            <a:lstStyle/>
            <a:p>
              <a:pPr algn="r">
                <a:lnSpc>
                  <a:spcPct val="100000"/>
                </a:lnSpc>
              </a:pPr>
              <a:r>
                <a:rPr sz="1120" b="0">
                  <a:solidFill>
                    <a:srgbClr val="242B32"/>
                  </a:solidFill>
                  <a:latin typeface="Aptos"/>
                </a:rPr>
                <a:t>3.70</a:t>
              </a:r>
            </a:p>
          </p:txBody>
        </p:sp>
        <p:sp>
          <p:nvSpPr>
            <p:cNvPr id="26" name="TextBox 25"/>
            <p:cNvSpPr txBox="1"/>
            <p:nvPr/>
          </p:nvSpPr>
          <p:spPr>
            <a:xfrm>
              <a:off x="9308592" y="3054096"/>
              <a:ext cx="822960" cy="228600"/>
            </a:xfrm>
            <a:prstGeom prst="rect">
              <a:avLst/>
            </a:prstGeom>
            <a:noFill/>
          </p:spPr>
          <p:txBody>
            <a:bodyPr wrap="square" lIns="36576" tIns="36576" rIns="36576" bIns="36576" anchor="t">
              <a:spAutoFit/>
            </a:bodyPr>
            <a:lstStyle/>
            <a:p>
              <a:pPr algn="r">
                <a:lnSpc>
                  <a:spcPct val="100000"/>
                </a:lnSpc>
              </a:pPr>
              <a:r>
                <a:rPr sz="1120" b="0" dirty="0">
                  <a:solidFill>
                    <a:srgbClr val="242B32"/>
                  </a:solidFill>
                  <a:latin typeface="Aptos"/>
                </a:rPr>
                <a:t>42.8%</a:t>
              </a:r>
            </a:p>
          </p:txBody>
        </p:sp>
        <p:sp>
          <p:nvSpPr>
            <p:cNvPr id="27" name="TextBox 26"/>
            <p:cNvSpPr txBox="1"/>
            <p:nvPr/>
          </p:nvSpPr>
          <p:spPr>
            <a:xfrm>
              <a:off x="10332720" y="3054096"/>
              <a:ext cx="960120" cy="228600"/>
            </a:xfrm>
            <a:prstGeom prst="rect">
              <a:avLst/>
            </a:prstGeom>
            <a:noFill/>
          </p:spPr>
          <p:txBody>
            <a:bodyPr wrap="square" lIns="36576" tIns="36576" rIns="36576" bIns="36576" anchor="t">
              <a:spAutoFit/>
            </a:bodyPr>
            <a:lstStyle/>
            <a:p>
              <a:pPr algn="r">
                <a:lnSpc>
                  <a:spcPct val="100000"/>
                </a:lnSpc>
              </a:pPr>
              <a:r>
                <a:rPr sz="1120" b="0">
                  <a:solidFill>
                    <a:srgbClr val="242B32"/>
                  </a:solidFill>
                  <a:latin typeface="Aptos"/>
                </a:rPr>
                <a:t>19.2%</a:t>
              </a:r>
            </a:p>
          </p:txBody>
        </p:sp>
        <p:sp>
          <p:nvSpPr>
            <p:cNvPr id="28" name="TextBox 27"/>
            <p:cNvSpPr txBox="1"/>
            <p:nvPr/>
          </p:nvSpPr>
          <p:spPr>
            <a:xfrm>
              <a:off x="6629400" y="3483863"/>
              <a:ext cx="1691640" cy="228600"/>
            </a:xfrm>
            <a:prstGeom prst="rect">
              <a:avLst/>
            </a:prstGeom>
            <a:noFill/>
          </p:spPr>
          <p:txBody>
            <a:bodyPr wrap="square" lIns="36576" tIns="36576" rIns="36576" bIns="36576" anchor="t">
              <a:spAutoFit/>
            </a:bodyPr>
            <a:lstStyle/>
            <a:p>
              <a:pPr algn="l">
                <a:lnSpc>
                  <a:spcPct val="100000"/>
                </a:lnSpc>
              </a:pPr>
              <a:r>
                <a:rPr sz="1120" b="0">
                  <a:solidFill>
                    <a:srgbClr val="242B32"/>
                  </a:solidFill>
                  <a:latin typeface="Aptos"/>
                </a:rPr>
                <a:t>HSBC</a:t>
              </a:r>
            </a:p>
          </p:txBody>
        </p:sp>
        <p:sp>
          <p:nvSpPr>
            <p:cNvPr id="29" name="TextBox 28"/>
            <p:cNvSpPr txBox="1"/>
            <p:nvPr/>
          </p:nvSpPr>
          <p:spPr>
            <a:xfrm>
              <a:off x="8485632" y="3483863"/>
              <a:ext cx="731520" cy="228600"/>
            </a:xfrm>
            <a:prstGeom prst="rect">
              <a:avLst/>
            </a:prstGeom>
            <a:noFill/>
          </p:spPr>
          <p:txBody>
            <a:bodyPr wrap="square" lIns="36576" tIns="36576" rIns="36576" bIns="36576" anchor="t">
              <a:spAutoFit/>
            </a:bodyPr>
            <a:lstStyle/>
            <a:p>
              <a:pPr algn="r">
                <a:lnSpc>
                  <a:spcPct val="100000"/>
                </a:lnSpc>
              </a:pPr>
              <a:r>
                <a:rPr sz="1120" b="0">
                  <a:solidFill>
                    <a:srgbClr val="242B32"/>
                  </a:solidFill>
                  <a:latin typeface="Aptos"/>
                </a:rPr>
                <a:t>3.72</a:t>
              </a:r>
            </a:p>
          </p:txBody>
        </p:sp>
        <p:sp>
          <p:nvSpPr>
            <p:cNvPr id="30" name="TextBox 29"/>
            <p:cNvSpPr txBox="1"/>
            <p:nvPr/>
          </p:nvSpPr>
          <p:spPr>
            <a:xfrm>
              <a:off x="9308592" y="3483863"/>
              <a:ext cx="822960" cy="228600"/>
            </a:xfrm>
            <a:prstGeom prst="rect">
              <a:avLst/>
            </a:prstGeom>
            <a:noFill/>
          </p:spPr>
          <p:txBody>
            <a:bodyPr wrap="square" lIns="36576" tIns="36576" rIns="36576" bIns="36576" anchor="t">
              <a:spAutoFit/>
            </a:bodyPr>
            <a:lstStyle/>
            <a:p>
              <a:pPr algn="r">
                <a:lnSpc>
                  <a:spcPct val="100000"/>
                </a:lnSpc>
              </a:pPr>
              <a:r>
                <a:rPr sz="1120" b="0">
                  <a:solidFill>
                    <a:srgbClr val="242B32"/>
                  </a:solidFill>
                  <a:latin typeface="Aptos"/>
                </a:rPr>
                <a:t>49.2%</a:t>
              </a:r>
            </a:p>
          </p:txBody>
        </p:sp>
        <p:sp>
          <p:nvSpPr>
            <p:cNvPr id="31" name="TextBox 30"/>
            <p:cNvSpPr txBox="1"/>
            <p:nvPr/>
          </p:nvSpPr>
          <p:spPr>
            <a:xfrm>
              <a:off x="10332720" y="3483863"/>
              <a:ext cx="960120" cy="228600"/>
            </a:xfrm>
            <a:prstGeom prst="rect">
              <a:avLst/>
            </a:prstGeom>
            <a:noFill/>
          </p:spPr>
          <p:txBody>
            <a:bodyPr wrap="square" lIns="36576" tIns="36576" rIns="36576" bIns="36576" anchor="t">
              <a:spAutoFit/>
            </a:bodyPr>
            <a:lstStyle/>
            <a:p>
              <a:pPr algn="r">
                <a:lnSpc>
                  <a:spcPct val="100000"/>
                </a:lnSpc>
              </a:pPr>
              <a:r>
                <a:rPr sz="1120" b="0">
                  <a:solidFill>
                    <a:srgbClr val="242B32"/>
                  </a:solidFill>
                  <a:latin typeface="Aptos"/>
                </a:rPr>
                <a:t>16.0%</a:t>
              </a:r>
            </a:p>
          </p:txBody>
        </p:sp>
      </p:grpSp>
      <p:grpSp>
        <p:nvGrpSpPr>
          <p:cNvPr id="37" name="Grupo 36">
            <a:extLst>
              <a:ext uri="{FF2B5EF4-FFF2-40B4-BE49-F238E27FC236}">
                <a16:creationId xmlns:a16="http://schemas.microsoft.com/office/drawing/2014/main" id="{E0DD4DED-0951-A555-A171-F0F4B368DF52}"/>
              </a:ext>
            </a:extLst>
          </p:cNvPr>
          <p:cNvGrpSpPr/>
          <p:nvPr/>
        </p:nvGrpSpPr>
        <p:grpSpPr>
          <a:xfrm>
            <a:off x="6400800" y="4701916"/>
            <a:ext cx="5230368" cy="1245633"/>
            <a:chOff x="6400800" y="4407408"/>
            <a:chExt cx="5230368" cy="914400"/>
          </a:xfrm>
          <a:solidFill>
            <a:schemeClr val="accent5">
              <a:lumMod val="20000"/>
              <a:lumOff val="80000"/>
            </a:schemeClr>
          </a:solidFill>
        </p:grpSpPr>
        <p:sp>
          <p:nvSpPr>
            <p:cNvPr id="32" name="Rounded Rectangle 31"/>
            <p:cNvSpPr/>
            <p:nvPr/>
          </p:nvSpPr>
          <p:spPr>
            <a:xfrm>
              <a:off x="6400800" y="4407408"/>
              <a:ext cx="5230368" cy="914400"/>
            </a:xfrm>
            <a:prstGeom prst="roundRect">
              <a:avLst>
                <a:gd name="adj" fmla="val 8000"/>
              </a:avLst>
            </a:prstGeom>
            <a:grpFill/>
            <a:ln>
              <a:solidFill>
                <a:schemeClr val="accent5">
                  <a:lumMod val="40000"/>
                  <a:lumOff val="6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sz="1600"/>
            </a:p>
          </p:txBody>
        </p:sp>
        <p:sp>
          <p:nvSpPr>
            <p:cNvPr id="33" name="TextBox 32"/>
            <p:cNvSpPr txBox="1"/>
            <p:nvPr/>
          </p:nvSpPr>
          <p:spPr>
            <a:xfrm>
              <a:off x="6656832" y="4485146"/>
              <a:ext cx="4709160" cy="777213"/>
            </a:xfrm>
            <a:prstGeom prst="rect">
              <a:avLst/>
            </a:prstGeom>
            <a:grpFill/>
            <a:ln>
              <a:noFill/>
            </a:ln>
          </p:spPr>
          <p:style>
            <a:lnRef idx="2">
              <a:schemeClr val="accent3">
                <a:shade val="50000"/>
              </a:schemeClr>
            </a:lnRef>
            <a:fillRef idx="1">
              <a:schemeClr val="accent3"/>
            </a:fillRef>
            <a:effectRef idx="0">
              <a:schemeClr val="accent3"/>
            </a:effectRef>
            <a:fontRef idx="minor">
              <a:schemeClr val="lt1"/>
            </a:fontRef>
          </p:style>
          <p:txBody>
            <a:bodyPr wrap="square" lIns="36576" tIns="36576" rIns="36576" bIns="36576" anchor="ctr">
              <a:spAutoFit/>
            </a:bodyPr>
            <a:lstStyle/>
            <a:p>
              <a:pPr algn="l">
                <a:lnSpc>
                  <a:spcPct val="100000"/>
                </a:lnSpc>
              </a:pPr>
              <a:r>
                <a:rPr lang="es-MX" sz="1600" b="1" dirty="0">
                  <a:solidFill>
                    <a:srgbClr val="0070C0"/>
                  </a:solidFill>
                  <a:latin typeface="Aptos"/>
                </a:rPr>
                <a:t>DB tiene el % de recomendación más bajo (41.4%) y el % de no-recomendación más alto (20.4%) de los 5 bancos. En rating está en el grupo bajo con Citi y HSBC.</a:t>
              </a:r>
            </a:p>
          </p:txBody>
        </p:sp>
      </p:grpSp>
      <p:cxnSp>
        <p:nvCxnSpPr>
          <p:cNvPr id="34" name="Connector 33"/>
          <p:cNvCxnSpPr/>
          <p:nvPr/>
        </p:nvCxnSpPr>
        <p:spPr>
          <a:xfrm>
            <a:off x="548640" y="6473952"/>
            <a:ext cx="11082528" cy="0"/>
          </a:xfrm>
          <a:prstGeom prst="line">
            <a:avLst/>
          </a:prstGeom>
          <a:ln w="8890">
            <a:solidFill>
              <a:srgbClr val="E0E4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519672"/>
            <a:ext cx="11064240" cy="182880"/>
          </a:xfrm>
          <a:prstGeom prst="rect">
            <a:avLst/>
          </a:prstGeom>
          <a:noFill/>
        </p:spPr>
        <p:txBody>
          <a:bodyPr wrap="square" lIns="36576" tIns="36576" rIns="36576" bIns="36576" anchor="t">
            <a:spAutoFit/>
          </a:bodyPr>
          <a:lstStyle/>
          <a:p>
            <a:pPr algn="l">
              <a:lnSpc>
                <a:spcPct val="100000"/>
              </a:lnSpc>
            </a:pPr>
            <a:r>
              <a:rPr sz="750" b="0">
                <a:solidFill>
                  <a:srgbClr val="66707A"/>
                </a:solidFill>
                <a:latin typeface="Aptos"/>
              </a:rPr>
              <a:t>Fuente: Glassdoor Job Reviews 1+2 (Kaggle) · 2018–2023 · análisis propio</a:t>
            </a:r>
          </a:p>
        </p:txBody>
      </p:sp>
      <p:grpSp>
        <p:nvGrpSpPr>
          <p:cNvPr id="38" name="Grupo 37">
            <a:extLst>
              <a:ext uri="{FF2B5EF4-FFF2-40B4-BE49-F238E27FC236}">
                <a16:creationId xmlns:a16="http://schemas.microsoft.com/office/drawing/2014/main" id="{9FD0B81B-C107-86DD-A7B3-E27DC3A89D4F}"/>
              </a:ext>
            </a:extLst>
          </p:cNvPr>
          <p:cNvGrpSpPr/>
          <p:nvPr/>
        </p:nvGrpSpPr>
        <p:grpSpPr>
          <a:xfrm>
            <a:off x="9000000" y="360000"/>
            <a:ext cx="2592120" cy="204671"/>
            <a:chOff x="8548980" y="861246"/>
            <a:chExt cx="2592120" cy="204671"/>
          </a:xfrm>
        </p:grpSpPr>
        <p:sp>
          <p:nvSpPr>
            <p:cNvPr id="39" name="TextBox 3">
              <a:extLst>
                <a:ext uri="{FF2B5EF4-FFF2-40B4-BE49-F238E27FC236}">
                  <a16:creationId xmlns:a16="http://schemas.microsoft.com/office/drawing/2014/main" id="{CF5D8278-982C-97CA-AC63-3011377A4976}"/>
                </a:ext>
              </a:extLst>
            </p:cNvPr>
            <p:cNvSpPr txBox="1"/>
            <p:nvPr/>
          </p:nvSpPr>
          <p:spPr>
            <a:xfrm>
              <a:off x="9449310" y="861246"/>
              <a:ext cx="588060" cy="204671"/>
            </a:xfrm>
            <a:prstGeom prst="rect">
              <a:avLst/>
            </a:prstGeom>
            <a:noFill/>
          </p:spPr>
          <p:txBody>
            <a:bodyPr wrap="square" lIns="36576" tIns="36576" rIns="36576" bIns="36576" anchor="t">
              <a:spAutoFit/>
            </a:bodyPr>
            <a:lstStyle/>
            <a:p>
              <a:pPr>
                <a:lnSpc>
                  <a:spcPct val="100000"/>
                </a:lnSpc>
              </a:pPr>
              <a:r>
                <a:rPr sz="850" b="1" dirty="0">
                  <a:solidFill>
                    <a:srgbClr val="66707A"/>
                  </a:solidFill>
                  <a:latin typeface="Aptos"/>
                </a:rPr>
                <a:t>03 · EDA</a:t>
              </a:r>
            </a:p>
          </p:txBody>
        </p:sp>
        <p:grpSp>
          <p:nvGrpSpPr>
            <p:cNvPr id="40" name="Grupo 39">
              <a:extLst>
                <a:ext uri="{FF2B5EF4-FFF2-40B4-BE49-F238E27FC236}">
                  <a16:creationId xmlns:a16="http://schemas.microsoft.com/office/drawing/2014/main" id="{DFC5C24C-2E19-5484-8324-CFF83B6B0ADD}"/>
                </a:ext>
              </a:extLst>
            </p:cNvPr>
            <p:cNvGrpSpPr/>
            <p:nvPr/>
          </p:nvGrpSpPr>
          <p:grpSpPr>
            <a:xfrm>
              <a:off x="8548980" y="914236"/>
              <a:ext cx="2592120" cy="108000"/>
              <a:chOff x="3329940" y="2346960"/>
              <a:chExt cx="2592120" cy="108000"/>
            </a:xfrm>
          </p:grpSpPr>
          <p:sp>
            <p:nvSpPr>
              <p:cNvPr id="41" name="Diagrama de flujo: conector 40">
                <a:extLst>
                  <a:ext uri="{FF2B5EF4-FFF2-40B4-BE49-F238E27FC236}">
                    <a16:creationId xmlns:a16="http://schemas.microsoft.com/office/drawing/2014/main" id="{51EB11C3-9421-74B8-A13D-1C111C8A3F67}"/>
                  </a:ext>
                </a:extLst>
              </p:cNvPr>
              <p:cNvSpPr/>
              <p:nvPr/>
            </p:nvSpPr>
            <p:spPr>
              <a:xfrm>
                <a:off x="3329940" y="23469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2" name="Diagrama de flujo: conector 41">
                <a:extLst>
                  <a:ext uri="{FF2B5EF4-FFF2-40B4-BE49-F238E27FC236}">
                    <a16:creationId xmlns:a16="http://schemas.microsoft.com/office/drawing/2014/main" id="{C782B28F-9DF3-BBEE-1CBB-C77C832C4F09}"/>
                  </a:ext>
                </a:extLst>
              </p:cNvPr>
              <p:cNvSpPr/>
              <p:nvPr/>
            </p:nvSpPr>
            <p:spPr>
              <a:xfrm>
                <a:off x="3482340" y="23469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3" name="Diagrama de flujo: conector 42">
                <a:extLst>
                  <a:ext uri="{FF2B5EF4-FFF2-40B4-BE49-F238E27FC236}">
                    <a16:creationId xmlns:a16="http://schemas.microsoft.com/office/drawing/2014/main" id="{317830C0-4A46-C406-9C99-D8EB74CB6801}"/>
                  </a:ext>
                </a:extLst>
              </p:cNvPr>
              <p:cNvSpPr/>
              <p:nvPr/>
            </p:nvSpPr>
            <p:spPr>
              <a:xfrm>
                <a:off x="3634740" y="23469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4" name="Diagrama de flujo: conector 43">
                <a:extLst>
                  <a:ext uri="{FF2B5EF4-FFF2-40B4-BE49-F238E27FC236}">
                    <a16:creationId xmlns:a16="http://schemas.microsoft.com/office/drawing/2014/main" id="{24E9F379-A539-B76D-958F-73955009B40B}"/>
                  </a:ext>
                </a:extLst>
              </p:cNvPr>
              <p:cNvSpPr/>
              <p:nvPr/>
            </p:nvSpPr>
            <p:spPr>
              <a:xfrm>
                <a:off x="5204460" y="23469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5" name="Diagrama de flujo: conector 44">
                <a:extLst>
                  <a:ext uri="{FF2B5EF4-FFF2-40B4-BE49-F238E27FC236}">
                    <a16:creationId xmlns:a16="http://schemas.microsoft.com/office/drawing/2014/main" id="{F33986AE-5859-7D6D-1C9D-FE1F1C97A014}"/>
                  </a:ext>
                </a:extLst>
              </p:cNvPr>
              <p:cNvSpPr/>
              <p:nvPr/>
            </p:nvSpPr>
            <p:spPr>
              <a:xfrm>
                <a:off x="5356860" y="23469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6" name="Diagrama de flujo: conector 45">
                <a:extLst>
                  <a:ext uri="{FF2B5EF4-FFF2-40B4-BE49-F238E27FC236}">
                    <a16:creationId xmlns:a16="http://schemas.microsoft.com/office/drawing/2014/main" id="{AB9EEDA9-566F-3E4A-7488-21E118AC4E88}"/>
                  </a:ext>
                </a:extLst>
              </p:cNvPr>
              <p:cNvSpPr/>
              <p:nvPr/>
            </p:nvSpPr>
            <p:spPr>
              <a:xfrm>
                <a:off x="5509260" y="23469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7" name="Diagrama de flujo: conector 46">
                <a:extLst>
                  <a:ext uri="{FF2B5EF4-FFF2-40B4-BE49-F238E27FC236}">
                    <a16:creationId xmlns:a16="http://schemas.microsoft.com/office/drawing/2014/main" id="{F99EC696-88CA-44A2-AD4B-4E6A936699A1}"/>
                  </a:ext>
                </a:extLst>
              </p:cNvPr>
              <p:cNvSpPr/>
              <p:nvPr/>
            </p:nvSpPr>
            <p:spPr>
              <a:xfrm>
                <a:off x="5661660" y="23469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8" name="Diagrama de flujo: conector 47">
                <a:extLst>
                  <a:ext uri="{FF2B5EF4-FFF2-40B4-BE49-F238E27FC236}">
                    <a16:creationId xmlns:a16="http://schemas.microsoft.com/office/drawing/2014/main" id="{2CD3073A-9DC8-3CB1-7F2B-566086BDB09B}"/>
                  </a:ext>
                </a:extLst>
              </p:cNvPr>
              <p:cNvSpPr/>
              <p:nvPr/>
            </p:nvSpPr>
            <p:spPr>
              <a:xfrm>
                <a:off x="5814060" y="23469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grpSp>
      </p:grpSp>
      <p:sp>
        <p:nvSpPr>
          <p:cNvPr id="4" name="Rectángulo 3">
            <a:extLst>
              <a:ext uri="{FF2B5EF4-FFF2-40B4-BE49-F238E27FC236}">
                <a16:creationId xmlns:a16="http://schemas.microsoft.com/office/drawing/2014/main" id="{AB0E83F6-BDBC-406B-4090-8F065C9E4805}"/>
              </a:ext>
            </a:extLst>
          </p:cNvPr>
          <p:cNvSpPr/>
          <p:nvPr/>
        </p:nvSpPr>
        <p:spPr>
          <a:xfrm>
            <a:off x="-17070" y="0"/>
            <a:ext cx="302820" cy="6858000"/>
          </a:xfrm>
          <a:prstGeom prst="rect">
            <a:avLst/>
          </a:prstGeom>
          <a:gradFill flip="none" rotWithShape="1">
            <a:gsLst>
              <a:gs pos="0">
                <a:schemeClr val="tx2">
                  <a:lumMod val="50000"/>
                </a:schemeClr>
              </a:gs>
              <a:gs pos="58000">
                <a:srgbClr val="E5E7EE"/>
              </a:gs>
              <a:gs pos="29000">
                <a:schemeClr val="tx2">
                  <a:tint val="44500"/>
                  <a:satMod val="160000"/>
                </a:schemeClr>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789920" cy="502920"/>
          </a:xfrm>
          <a:prstGeom prst="rect">
            <a:avLst/>
          </a:prstGeom>
          <a:noFill/>
        </p:spPr>
        <p:txBody>
          <a:bodyPr wrap="square" lIns="36576" tIns="36576" rIns="36576" bIns="36576" anchor="t">
            <a:spAutoFit/>
          </a:bodyPr>
          <a:lstStyle/>
          <a:p>
            <a:pPr algn="l">
              <a:lnSpc>
                <a:spcPct val="100000"/>
              </a:lnSpc>
            </a:pPr>
            <a:r>
              <a:rPr sz="2500" b="1">
                <a:solidFill>
                  <a:srgbClr val="13233A"/>
                </a:solidFill>
                <a:latin typeface="Aptos"/>
              </a:rPr>
              <a:t>Antes de fiarnos del modelo, lo validamos</a:t>
            </a:r>
          </a:p>
        </p:txBody>
      </p:sp>
      <p:sp>
        <p:nvSpPr>
          <p:cNvPr id="3" name="Rectangle 2"/>
          <p:cNvSpPr/>
          <p:nvPr/>
        </p:nvSpPr>
        <p:spPr>
          <a:xfrm>
            <a:off x="548640" y="896112"/>
            <a:ext cx="1051560" cy="32004"/>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2.png"/>
          <p:cNvPicPr>
            <a:picLocks noChangeAspect="1"/>
          </p:cNvPicPr>
          <p:nvPr/>
        </p:nvPicPr>
        <p:blipFill>
          <a:blip r:embed="rId3"/>
          <a:stretch>
            <a:fillRect/>
          </a:stretch>
        </p:blipFill>
        <p:spPr>
          <a:xfrm>
            <a:off x="502920" y="1865745"/>
            <a:ext cx="5715000" cy="3172597"/>
          </a:xfrm>
          <a:prstGeom prst="rect">
            <a:avLst/>
          </a:prstGeom>
        </p:spPr>
      </p:pic>
      <p:sp>
        <p:nvSpPr>
          <p:cNvPr id="6" name="TextBox 5"/>
          <p:cNvSpPr txBox="1"/>
          <p:nvPr/>
        </p:nvSpPr>
        <p:spPr>
          <a:xfrm>
            <a:off x="6400800" y="1280160"/>
            <a:ext cx="2011680" cy="256032"/>
          </a:xfrm>
          <a:prstGeom prst="rect">
            <a:avLst/>
          </a:prstGeom>
          <a:noFill/>
        </p:spPr>
        <p:txBody>
          <a:bodyPr wrap="square" lIns="36576" tIns="36576" rIns="36576" bIns="36576" anchor="t">
            <a:spAutoFit/>
          </a:bodyPr>
          <a:lstStyle/>
          <a:p>
            <a:pPr algn="l">
              <a:lnSpc>
                <a:spcPct val="100000"/>
              </a:lnSpc>
            </a:pPr>
            <a:r>
              <a:rPr sz="900" b="1">
                <a:solidFill>
                  <a:srgbClr val="1F77B4"/>
                </a:solidFill>
                <a:latin typeface="Aptos"/>
              </a:rPr>
              <a:t>RESULTADO</a:t>
            </a:r>
          </a:p>
        </p:txBody>
      </p:sp>
      <p:sp>
        <p:nvSpPr>
          <p:cNvPr id="7" name="Rounded Rectangle 6"/>
          <p:cNvSpPr/>
          <p:nvPr/>
        </p:nvSpPr>
        <p:spPr>
          <a:xfrm>
            <a:off x="6400800" y="1609344"/>
            <a:ext cx="5230368" cy="960120"/>
          </a:xfrm>
          <a:prstGeom prst="roundRect">
            <a:avLst>
              <a:gd name="adj" fmla="val 8000"/>
            </a:avLst>
          </a:prstGeom>
          <a:solidFill>
            <a:srgbClr val="E8F1F9"/>
          </a:solidFill>
          <a:ln>
            <a:solidFill>
              <a:srgbClr val="E8F1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63143" y="1840373"/>
            <a:ext cx="2602345" cy="443198"/>
          </a:xfrm>
          <a:prstGeom prst="rect">
            <a:avLst/>
          </a:prstGeom>
          <a:noFill/>
        </p:spPr>
        <p:txBody>
          <a:bodyPr wrap="square" lIns="36576" tIns="36576" rIns="36576" bIns="36576" anchor="ctr">
            <a:spAutoFit/>
          </a:bodyPr>
          <a:lstStyle/>
          <a:p>
            <a:pPr algn="l"/>
            <a:r>
              <a:rPr sz="2400" b="1" dirty="0">
                <a:solidFill>
                  <a:srgbClr val="1F77B4"/>
                </a:solidFill>
                <a:latin typeface="Aptos"/>
              </a:rPr>
              <a:t>92%</a:t>
            </a:r>
            <a:r>
              <a:rPr sz="1300" b="0" dirty="0">
                <a:solidFill>
                  <a:srgbClr val="242B32"/>
                </a:solidFill>
                <a:latin typeface="Aptos"/>
              </a:rPr>
              <a:t> de </a:t>
            </a:r>
            <a:r>
              <a:rPr sz="1300" b="0" dirty="0" err="1">
                <a:solidFill>
                  <a:srgbClr val="242B32"/>
                </a:solidFill>
                <a:latin typeface="Aptos"/>
              </a:rPr>
              <a:t>los</a:t>
            </a:r>
            <a:r>
              <a:rPr sz="1300" b="0" dirty="0">
                <a:solidFill>
                  <a:srgbClr val="242B32"/>
                </a:solidFill>
                <a:latin typeface="Aptos"/>
              </a:rPr>
              <a:t> pros son </a:t>
            </a:r>
            <a:r>
              <a:rPr sz="1300" b="0" dirty="0" err="1">
                <a:solidFill>
                  <a:srgbClr val="242B32"/>
                </a:solidFill>
                <a:latin typeface="Aptos"/>
              </a:rPr>
              <a:t>positivos</a:t>
            </a:r>
            <a:r>
              <a:rPr sz="1300" b="0" dirty="0">
                <a:solidFill>
                  <a:srgbClr val="242B32"/>
                </a:solidFill>
                <a:latin typeface="Aptos"/>
              </a:rPr>
              <a:t>  ·</a:t>
            </a:r>
          </a:p>
        </p:txBody>
      </p:sp>
      <p:sp>
        <p:nvSpPr>
          <p:cNvPr id="9" name="TextBox 8"/>
          <p:cNvSpPr txBox="1"/>
          <p:nvPr/>
        </p:nvSpPr>
        <p:spPr>
          <a:xfrm>
            <a:off x="6400800" y="2834640"/>
            <a:ext cx="2743200" cy="256032"/>
          </a:xfrm>
          <a:prstGeom prst="rect">
            <a:avLst/>
          </a:prstGeom>
          <a:noFill/>
        </p:spPr>
        <p:txBody>
          <a:bodyPr wrap="square" lIns="36576" tIns="36576" rIns="36576" bIns="36576" anchor="t">
            <a:spAutoFit/>
          </a:bodyPr>
          <a:lstStyle/>
          <a:p>
            <a:pPr algn="l">
              <a:lnSpc>
                <a:spcPct val="100000"/>
              </a:lnSpc>
            </a:pPr>
            <a:r>
              <a:rPr sz="900" b="1">
                <a:solidFill>
                  <a:srgbClr val="1F77B4"/>
                </a:solidFill>
                <a:latin typeface="Aptos"/>
              </a:rPr>
              <a:t>EJEMPLOS DE FALLOS</a:t>
            </a:r>
          </a:p>
        </p:txBody>
      </p:sp>
      <p:sp>
        <p:nvSpPr>
          <p:cNvPr id="10" name="Rounded Rectangle 9"/>
          <p:cNvSpPr/>
          <p:nvPr/>
        </p:nvSpPr>
        <p:spPr>
          <a:xfrm>
            <a:off x="6400800" y="3163824"/>
            <a:ext cx="5230368" cy="868680"/>
          </a:xfrm>
          <a:prstGeom prst="roundRect">
            <a:avLst>
              <a:gd name="adj" fmla="val 8000"/>
            </a:avLst>
          </a:prstGeom>
          <a:solidFill>
            <a:srgbClr val="F6F7F9"/>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01968" y="3319272"/>
            <a:ext cx="4800600" cy="256032"/>
          </a:xfrm>
          <a:prstGeom prst="rect">
            <a:avLst/>
          </a:prstGeom>
          <a:noFill/>
        </p:spPr>
        <p:txBody>
          <a:bodyPr wrap="square" lIns="36576" tIns="36576" rIns="36576" bIns="36576" anchor="t">
            <a:spAutoFit/>
          </a:bodyPr>
          <a:lstStyle/>
          <a:p>
            <a:pPr algn="l">
              <a:lnSpc>
                <a:spcPct val="100000"/>
              </a:lnSpc>
            </a:pPr>
            <a:r>
              <a:rPr sz="1220" b="1">
                <a:solidFill>
                  <a:srgbClr val="242B32"/>
                </a:solidFill>
                <a:latin typeface="Aptos"/>
              </a:rPr>
              <a:t>“pay is good, but still lower than street” → NEGATIVE</a:t>
            </a:r>
          </a:p>
        </p:txBody>
      </p:sp>
      <p:sp>
        <p:nvSpPr>
          <p:cNvPr id="12" name="TextBox 11"/>
          <p:cNvSpPr txBox="1"/>
          <p:nvPr/>
        </p:nvSpPr>
        <p:spPr>
          <a:xfrm>
            <a:off x="6601968" y="3639312"/>
            <a:ext cx="4800600" cy="219456"/>
          </a:xfrm>
          <a:prstGeom prst="rect">
            <a:avLst/>
          </a:prstGeom>
          <a:noFill/>
        </p:spPr>
        <p:txBody>
          <a:bodyPr wrap="square" lIns="36576" tIns="36576" rIns="36576" bIns="36576" anchor="t">
            <a:spAutoFit/>
          </a:bodyPr>
          <a:lstStyle/>
          <a:p>
            <a:pPr algn="l">
              <a:lnSpc>
                <a:spcPct val="100000"/>
              </a:lnSpc>
            </a:pPr>
            <a:r>
              <a:rPr sz="1019" b="0">
                <a:solidFill>
                  <a:srgbClr val="377D5A"/>
                </a:solidFill>
                <a:latin typeface="Aptos"/>
              </a:rPr>
              <a:t>Acierta: capta la segunda parte de la frase.</a:t>
            </a:r>
          </a:p>
        </p:txBody>
      </p:sp>
      <p:sp>
        <p:nvSpPr>
          <p:cNvPr id="13" name="Rounded Rectangle 12"/>
          <p:cNvSpPr/>
          <p:nvPr/>
        </p:nvSpPr>
        <p:spPr>
          <a:xfrm>
            <a:off x="6400800" y="4169663"/>
            <a:ext cx="5230368" cy="868680"/>
          </a:xfrm>
          <a:prstGeom prst="roundRect">
            <a:avLst>
              <a:gd name="adj" fmla="val 8000"/>
            </a:avLst>
          </a:prstGeom>
          <a:solidFill>
            <a:srgbClr val="FAF1F1"/>
          </a:solidFill>
          <a:ln>
            <a:solidFill>
              <a:srgbClr val="EB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4325112"/>
            <a:ext cx="4800600" cy="256032"/>
          </a:xfrm>
          <a:prstGeom prst="rect">
            <a:avLst/>
          </a:prstGeom>
          <a:noFill/>
        </p:spPr>
        <p:txBody>
          <a:bodyPr wrap="square" lIns="36576" tIns="36576" rIns="36576" bIns="36576" anchor="t">
            <a:spAutoFit/>
          </a:bodyPr>
          <a:lstStyle/>
          <a:p>
            <a:pPr algn="l">
              <a:lnSpc>
                <a:spcPct val="100000"/>
              </a:lnSpc>
            </a:pPr>
            <a:r>
              <a:rPr sz="1220" b="1">
                <a:solidFill>
                  <a:srgbClr val="242B32"/>
                </a:solidFill>
                <a:latin typeface="Aptos"/>
              </a:rPr>
              <a:t>“Have to perform work outside SLA” → POSITIVE</a:t>
            </a:r>
          </a:p>
        </p:txBody>
      </p:sp>
      <p:sp>
        <p:nvSpPr>
          <p:cNvPr id="15" name="TextBox 14"/>
          <p:cNvSpPr txBox="1"/>
          <p:nvPr/>
        </p:nvSpPr>
        <p:spPr>
          <a:xfrm>
            <a:off x="6601968" y="4645152"/>
            <a:ext cx="4800600" cy="219456"/>
          </a:xfrm>
          <a:prstGeom prst="rect">
            <a:avLst/>
          </a:prstGeom>
          <a:noFill/>
        </p:spPr>
        <p:txBody>
          <a:bodyPr wrap="square" lIns="36576" tIns="36576" rIns="36576" bIns="36576" anchor="t">
            <a:spAutoFit/>
          </a:bodyPr>
          <a:lstStyle/>
          <a:p>
            <a:pPr algn="l">
              <a:lnSpc>
                <a:spcPct val="100000"/>
              </a:lnSpc>
            </a:pPr>
            <a:r>
              <a:rPr sz="1019" b="0">
                <a:solidFill>
                  <a:srgbClr val="B94646"/>
                </a:solidFill>
                <a:latin typeface="Aptos"/>
              </a:rPr>
              <a:t>Falla: no maneja bien la negación contextual.</a:t>
            </a:r>
          </a:p>
        </p:txBody>
      </p:sp>
      <p:cxnSp>
        <p:nvCxnSpPr>
          <p:cNvPr id="18" name="Connector 17"/>
          <p:cNvCxnSpPr/>
          <p:nvPr/>
        </p:nvCxnSpPr>
        <p:spPr>
          <a:xfrm>
            <a:off x="548640" y="6473952"/>
            <a:ext cx="11082528" cy="0"/>
          </a:xfrm>
          <a:prstGeom prst="line">
            <a:avLst/>
          </a:prstGeom>
          <a:ln w="8890">
            <a:solidFill>
              <a:srgbClr val="E0E4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519672"/>
            <a:ext cx="11064240" cy="182880"/>
          </a:xfrm>
          <a:prstGeom prst="rect">
            <a:avLst/>
          </a:prstGeom>
          <a:noFill/>
        </p:spPr>
        <p:txBody>
          <a:bodyPr wrap="square" lIns="36576" tIns="36576" rIns="36576" bIns="36576" anchor="t">
            <a:spAutoFit/>
          </a:bodyPr>
          <a:lstStyle/>
          <a:p>
            <a:pPr algn="l">
              <a:lnSpc>
                <a:spcPct val="100000"/>
              </a:lnSpc>
            </a:pPr>
            <a:r>
              <a:rPr sz="750" b="0">
                <a:solidFill>
                  <a:srgbClr val="66707A"/>
                </a:solidFill>
                <a:latin typeface="Aptos"/>
              </a:rPr>
              <a:t>Fuente: Glassdoor Job Reviews 1+2 (Kaggle) · 2018–2023 · modelo DistilBERT · análisis propio</a:t>
            </a:r>
          </a:p>
        </p:txBody>
      </p:sp>
      <p:sp>
        <p:nvSpPr>
          <p:cNvPr id="20" name="TextBox 7">
            <a:extLst>
              <a:ext uri="{FF2B5EF4-FFF2-40B4-BE49-F238E27FC236}">
                <a16:creationId xmlns:a16="http://schemas.microsoft.com/office/drawing/2014/main" id="{1CE682DB-86EC-A565-C3F8-1581B32221E5}"/>
              </a:ext>
            </a:extLst>
          </p:cNvPr>
          <p:cNvSpPr txBox="1"/>
          <p:nvPr/>
        </p:nvSpPr>
        <p:spPr>
          <a:xfrm>
            <a:off x="9045446" y="1840373"/>
            <a:ext cx="2602345" cy="443198"/>
          </a:xfrm>
          <a:prstGeom prst="rect">
            <a:avLst/>
          </a:prstGeom>
          <a:noFill/>
        </p:spPr>
        <p:txBody>
          <a:bodyPr wrap="square" lIns="36576" tIns="36576" rIns="36576" bIns="36576" anchor="ctr">
            <a:spAutoFit/>
          </a:bodyPr>
          <a:lstStyle/>
          <a:p>
            <a:pPr algn="l"/>
            <a:r>
              <a:rPr sz="2400" b="1" dirty="0">
                <a:solidFill>
                  <a:srgbClr val="1F77B4"/>
                </a:solidFill>
                <a:latin typeface="Aptos"/>
              </a:rPr>
              <a:t>82%</a:t>
            </a:r>
            <a:r>
              <a:rPr sz="1300" b="0" dirty="0">
                <a:solidFill>
                  <a:srgbClr val="242B32"/>
                </a:solidFill>
                <a:latin typeface="Aptos"/>
              </a:rPr>
              <a:t> de </a:t>
            </a:r>
            <a:r>
              <a:rPr sz="1300" b="0" dirty="0" err="1">
                <a:solidFill>
                  <a:srgbClr val="242B32"/>
                </a:solidFill>
                <a:latin typeface="Aptos"/>
              </a:rPr>
              <a:t>los</a:t>
            </a:r>
            <a:r>
              <a:rPr sz="1300" b="0" dirty="0">
                <a:solidFill>
                  <a:srgbClr val="242B32"/>
                </a:solidFill>
                <a:latin typeface="Aptos"/>
              </a:rPr>
              <a:t> cons son </a:t>
            </a:r>
            <a:r>
              <a:rPr sz="1300" b="0" dirty="0" err="1">
                <a:solidFill>
                  <a:srgbClr val="242B32"/>
                </a:solidFill>
                <a:latin typeface="Aptos"/>
              </a:rPr>
              <a:t>negativos</a:t>
            </a:r>
            <a:endParaRPr sz="1300" b="0" dirty="0">
              <a:solidFill>
                <a:srgbClr val="242B32"/>
              </a:solidFill>
              <a:latin typeface="Aptos"/>
            </a:endParaRPr>
          </a:p>
        </p:txBody>
      </p:sp>
      <p:grpSp>
        <p:nvGrpSpPr>
          <p:cNvPr id="21" name="Grupo 20">
            <a:extLst>
              <a:ext uri="{FF2B5EF4-FFF2-40B4-BE49-F238E27FC236}">
                <a16:creationId xmlns:a16="http://schemas.microsoft.com/office/drawing/2014/main" id="{F1A24E9B-20C9-9D54-E491-70084F47C429}"/>
              </a:ext>
            </a:extLst>
          </p:cNvPr>
          <p:cNvGrpSpPr/>
          <p:nvPr/>
        </p:nvGrpSpPr>
        <p:grpSpPr>
          <a:xfrm>
            <a:off x="9000000" y="360000"/>
            <a:ext cx="2592120" cy="204671"/>
            <a:chOff x="8548980" y="1125443"/>
            <a:chExt cx="2592120" cy="204671"/>
          </a:xfrm>
        </p:grpSpPr>
        <p:sp>
          <p:nvSpPr>
            <p:cNvPr id="22" name="TextBox 3">
              <a:extLst>
                <a:ext uri="{FF2B5EF4-FFF2-40B4-BE49-F238E27FC236}">
                  <a16:creationId xmlns:a16="http://schemas.microsoft.com/office/drawing/2014/main" id="{7FD21562-5B2E-501F-4595-CA06B0681201}"/>
                </a:ext>
              </a:extLst>
            </p:cNvPr>
            <p:cNvSpPr txBox="1"/>
            <p:nvPr/>
          </p:nvSpPr>
          <p:spPr>
            <a:xfrm>
              <a:off x="9158580" y="1125443"/>
              <a:ext cx="1554480" cy="204671"/>
            </a:xfrm>
            <a:prstGeom prst="rect">
              <a:avLst/>
            </a:prstGeom>
            <a:noFill/>
          </p:spPr>
          <p:txBody>
            <a:bodyPr wrap="square" lIns="36576" tIns="36576" rIns="36576" bIns="36576" anchor="t">
              <a:spAutoFit/>
            </a:bodyPr>
            <a:lstStyle/>
            <a:p>
              <a:pPr>
                <a:lnSpc>
                  <a:spcPct val="100000"/>
                </a:lnSpc>
              </a:pPr>
              <a:r>
                <a:rPr sz="850" b="1" dirty="0">
                  <a:solidFill>
                    <a:srgbClr val="66707A"/>
                  </a:solidFill>
                  <a:latin typeface="Aptos"/>
                </a:rPr>
                <a:t>04 · CALIDAD DEL </a:t>
              </a:r>
              <a:r>
                <a:rPr sz="850" b="1" dirty="0" err="1">
                  <a:solidFill>
                    <a:srgbClr val="66707A"/>
                  </a:solidFill>
                  <a:latin typeface="Aptos"/>
                </a:rPr>
                <a:t>MODELO</a:t>
              </a:r>
              <a:endParaRPr sz="850" b="1" dirty="0">
                <a:solidFill>
                  <a:srgbClr val="66707A"/>
                </a:solidFill>
                <a:latin typeface="Aptos"/>
              </a:endParaRPr>
            </a:p>
          </p:txBody>
        </p:sp>
        <p:grpSp>
          <p:nvGrpSpPr>
            <p:cNvPr id="23" name="Grupo 22">
              <a:extLst>
                <a:ext uri="{FF2B5EF4-FFF2-40B4-BE49-F238E27FC236}">
                  <a16:creationId xmlns:a16="http://schemas.microsoft.com/office/drawing/2014/main" id="{EAD75922-F52D-44CF-B009-9FB355A582A1}"/>
                </a:ext>
              </a:extLst>
            </p:cNvPr>
            <p:cNvGrpSpPr/>
            <p:nvPr/>
          </p:nvGrpSpPr>
          <p:grpSpPr>
            <a:xfrm>
              <a:off x="8548980" y="1172238"/>
              <a:ext cx="2592120" cy="108000"/>
              <a:chOff x="3177540" y="2194560"/>
              <a:chExt cx="2592120" cy="108000"/>
            </a:xfrm>
          </p:grpSpPr>
          <p:sp>
            <p:nvSpPr>
              <p:cNvPr id="24" name="Diagrama de flujo: conector 23">
                <a:extLst>
                  <a:ext uri="{FF2B5EF4-FFF2-40B4-BE49-F238E27FC236}">
                    <a16:creationId xmlns:a16="http://schemas.microsoft.com/office/drawing/2014/main" id="{D6757C7E-63FD-5C58-0A7F-3DCB7EA3CEDD}"/>
                  </a:ext>
                </a:extLst>
              </p:cNvPr>
              <p:cNvSpPr/>
              <p:nvPr/>
            </p:nvSpPr>
            <p:spPr>
              <a:xfrm>
                <a:off x="3177540" y="21945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5" name="Diagrama de flujo: conector 24">
                <a:extLst>
                  <a:ext uri="{FF2B5EF4-FFF2-40B4-BE49-F238E27FC236}">
                    <a16:creationId xmlns:a16="http://schemas.microsoft.com/office/drawing/2014/main" id="{0D618135-041A-E435-010A-E0A145E5DB50}"/>
                  </a:ext>
                </a:extLst>
              </p:cNvPr>
              <p:cNvSpPr/>
              <p:nvPr/>
            </p:nvSpPr>
            <p:spPr>
              <a:xfrm>
                <a:off x="3329940" y="21945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6" name="Diagrama de flujo: conector 25">
                <a:extLst>
                  <a:ext uri="{FF2B5EF4-FFF2-40B4-BE49-F238E27FC236}">
                    <a16:creationId xmlns:a16="http://schemas.microsoft.com/office/drawing/2014/main" id="{00E77411-46A8-0196-D9FE-8975E9AC19EB}"/>
                  </a:ext>
                </a:extLst>
              </p:cNvPr>
              <p:cNvSpPr/>
              <p:nvPr/>
            </p:nvSpPr>
            <p:spPr>
              <a:xfrm>
                <a:off x="3482340" y="21945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7" name="Diagrama de flujo: conector 26">
                <a:extLst>
                  <a:ext uri="{FF2B5EF4-FFF2-40B4-BE49-F238E27FC236}">
                    <a16:creationId xmlns:a16="http://schemas.microsoft.com/office/drawing/2014/main" id="{0EA07D8F-8697-40A6-2291-6B88E76EA340}"/>
                  </a:ext>
                </a:extLst>
              </p:cNvPr>
              <p:cNvSpPr/>
              <p:nvPr/>
            </p:nvSpPr>
            <p:spPr>
              <a:xfrm>
                <a:off x="3634740" y="21945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8" name="Diagrama de flujo: conector 27">
                <a:extLst>
                  <a:ext uri="{FF2B5EF4-FFF2-40B4-BE49-F238E27FC236}">
                    <a16:creationId xmlns:a16="http://schemas.microsoft.com/office/drawing/2014/main" id="{92A4D453-D63E-71DB-E621-5D1D6CC350B6}"/>
                  </a:ext>
                </a:extLst>
              </p:cNvPr>
              <p:cNvSpPr/>
              <p:nvPr/>
            </p:nvSpPr>
            <p:spPr>
              <a:xfrm>
                <a:off x="5204460" y="21945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9" name="Diagrama de flujo: conector 28">
                <a:extLst>
                  <a:ext uri="{FF2B5EF4-FFF2-40B4-BE49-F238E27FC236}">
                    <a16:creationId xmlns:a16="http://schemas.microsoft.com/office/drawing/2014/main" id="{AE9A3ED7-C40B-15AB-3760-7E99E39E5394}"/>
                  </a:ext>
                </a:extLst>
              </p:cNvPr>
              <p:cNvSpPr/>
              <p:nvPr/>
            </p:nvSpPr>
            <p:spPr>
              <a:xfrm>
                <a:off x="5356860" y="21945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30" name="Diagrama de flujo: conector 29">
                <a:extLst>
                  <a:ext uri="{FF2B5EF4-FFF2-40B4-BE49-F238E27FC236}">
                    <a16:creationId xmlns:a16="http://schemas.microsoft.com/office/drawing/2014/main" id="{CB2F60BE-014B-B813-65D1-74CDC4677970}"/>
                  </a:ext>
                </a:extLst>
              </p:cNvPr>
              <p:cNvSpPr/>
              <p:nvPr/>
            </p:nvSpPr>
            <p:spPr>
              <a:xfrm>
                <a:off x="5509260" y="21945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31" name="Diagrama de flujo: conector 30">
                <a:extLst>
                  <a:ext uri="{FF2B5EF4-FFF2-40B4-BE49-F238E27FC236}">
                    <a16:creationId xmlns:a16="http://schemas.microsoft.com/office/drawing/2014/main" id="{3D681AF5-A37C-9B6E-90A8-B3A51DDE41AD}"/>
                  </a:ext>
                </a:extLst>
              </p:cNvPr>
              <p:cNvSpPr/>
              <p:nvPr/>
            </p:nvSpPr>
            <p:spPr>
              <a:xfrm>
                <a:off x="5661660" y="21945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grpSp>
      </p:grpSp>
      <p:sp>
        <p:nvSpPr>
          <p:cNvPr id="4" name="Rectángulo 3">
            <a:extLst>
              <a:ext uri="{FF2B5EF4-FFF2-40B4-BE49-F238E27FC236}">
                <a16:creationId xmlns:a16="http://schemas.microsoft.com/office/drawing/2014/main" id="{84BAB711-E258-6F0C-54A0-3118B56AF14B}"/>
              </a:ext>
            </a:extLst>
          </p:cNvPr>
          <p:cNvSpPr/>
          <p:nvPr/>
        </p:nvSpPr>
        <p:spPr>
          <a:xfrm>
            <a:off x="-17070" y="0"/>
            <a:ext cx="302820" cy="6858000"/>
          </a:xfrm>
          <a:prstGeom prst="rect">
            <a:avLst/>
          </a:prstGeom>
          <a:gradFill flip="none" rotWithShape="1">
            <a:gsLst>
              <a:gs pos="0">
                <a:schemeClr val="tx2">
                  <a:lumMod val="50000"/>
                </a:schemeClr>
              </a:gs>
              <a:gs pos="58000">
                <a:srgbClr val="E5E7EE"/>
              </a:gs>
              <a:gs pos="29000">
                <a:schemeClr val="tx2">
                  <a:tint val="44500"/>
                  <a:satMod val="160000"/>
                </a:schemeClr>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10789920" cy="502920"/>
          </a:xfrm>
          <a:prstGeom prst="rect">
            <a:avLst/>
          </a:prstGeom>
          <a:noFill/>
        </p:spPr>
        <p:txBody>
          <a:bodyPr wrap="square" lIns="36576" tIns="36576" rIns="36576" bIns="36576" anchor="t">
            <a:spAutoFit/>
          </a:bodyPr>
          <a:lstStyle/>
          <a:p>
            <a:pPr algn="l">
              <a:lnSpc>
                <a:spcPct val="100000"/>
              </a:lnSpc>
            </a:pPr>
            <a:r>
              <a:rPr sz="2500" b="1">
                <a:solidFill>
                  <a:srgbClr val="13233A"/>
                </a:solidFill>
                <a:latin typeface="Aptos"/>
              </a:rPr>
              <a:t>Cultura es la fortaleza. Compensación es la debilidad.</a:t>
            </a:r>
          </a:p>
        </p:txBody>
      </p:sp>
      <p:sp>
        <p:nvSpPr>
          <p:cNvPr id="3" name="Rectangle 2"/>
          <p:cNvSpPr/>
          <p:nvPr/>
        </p:nvSpPr>
        <p:spPr>
          <a:xfrm>
            <a:off x="548640" y="896112"/>
            <a:ext cx="1051560" cy="32004"/>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3.png"/>
          <p:cNvPicPr>
            <a:picLocks noChangeAspect="1"/>
          </p:cNvPicPr>
          <p:nvPr/>
        </p:nvPicPr>
        <p:blipFill>
          <a:blip r:embed="rId3"/>
          <a:stretch>
            <a:fillRect/>
          </a:stretch>
        </p:blipFill>
        <p:spPr>
          <a:xfrm>
            <a:off x="2173320" y="1170432"/>
            <a:ext cx="7571047" cy="2971800"/>
          </a:xfrm>
          <a:prstGeom prst="rect">
            <a:avLst/>
          </a:prstGeom>
        </p:spPr>
      </p:pic>
      <p:sp>
        <p:nvSpPr>
          <p:cNvPr id="6" name="Rounded Rectangle 5"/>
          <p:cNvSpPr/>
          <p:nvPr/>
        </p:nvSpPr>
        <p:spPr>
          <a:xfrm>
            <a:off x="548640" y="4370832"/>
            <a:ext cx="5321808" cy="1298448"/>
          </a:xfrm>
          <a:prstGeom prst="roundRect">
            <a:avLst>
              <a:gd name="adj" fmla="val 8000"/>
            </a:avLst>
          </a:prstGeom>
          <a:solidFill>
            <a:srgbClr val="E8F1F9"/>
          </a:solidFill>
          <a:ln>
            <a:solidFill>
              <a:srgbClr val="E8F1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4572000"/>
            <a:ext cx="4389120" cy="228600"/>
          </a:xfrm>
          <a:prstGeom prst="rect">
            <a:avLst/>
          </a:prstGeom>
          <a:noFill/>
        </p:spPr>
        <p:txBody>
          <a:bodyPr wrap="square" lIns="36576" tIns="36576" rIns="36576" bIns="36576" anchor="t">
            <a:spAutoFit/>
          </a:bodyPr>
          <a:lstStyle/>
          <a:p>
            <a:pPr algn="l">
              <a:lnSpc>
                <a:spcPct val="100000"/>
              </a:lnSpc>
            </a:pPr>
            <a:r>
              <a:rPr sz="880" b="1">
                <a:solidFill>
                  <a:srgbClr val="1F77B4"/>
                </a:solidFill>
                <a:latin typeface="Aptos"/>
              </a:rPr>
              <a:t>FORTALEZAS DE DB · GAP VS PEERS</a:t>
            </a:r>
          </a:p>
        </p:txBody>
      </p:sp>
      <p:sp>
        <p:nvSpPr>
          <p:cNvPr id="8" name="TextBox 7"/>
          <p:cNvSpPr txBox="1"/>
          <p:nvPr/>
        </p:nvSpPr>
        <p:spPr>
          <a:xfrm>
            <a:off x="804672" y="4892040"/>
            <a:ext cx="2468880" cy="237744"/>
          </a:xfrm>
          <a:prstGeom prst="rect">
            <a:avLst/>
          </a:prstGeom>
          <a:noFill/>
        </p:spPr>
        <p:txBody>
          <a:bodyPr wrap="square" lIns="36576" tIns="36576" rIns="36576" bIns="36576" anchor="t">
            <a:spAutoFit/>
          </a:bodyPr>
          <a:lstStyle/>
          <a:p>
            <a:pPr algn="l">
              <a:lnSpc>
                <a:spcPct val="100000"/>
              </a:lnSpc>
            </a:pPr>
            <a:r>
              <a:rPr sz="1250" b="1">
                <a:solidFill>
                  <a:srgbClr val="13233A"/>
                </a:solidFill>
                <a:latin typeface="Aptos"/>
              </a:rPr>
              <a:t>Cultura y ambiente</a:t>
            </a:r>
          </a:p>
        </p:txBody>
      </p:sp>
      <p:sp>
        <p:nvSpPr>
          <p:cNvPr id="9" name="TextBox 8"/>
          <p:cNvSpPr txBox="1"/>
          <p:nvPr/>
        </p:nvSpPr>
        <p:spPr>
          <a:xfrm>
            <a:off x="4526280" y="4892040"/>
            <a:ext cx="1005840" cy="237744"/>
          </a:xfrm>
          <a:prstGeom prst="rect">
            <a:avLst/>
          </a:prstGeom>
          <a:noFill/>
        </p:spPr>
        <p:txBody>
          <a:bodyPr wrap="square" lIns="36576" tIns="36576" rIns="36576" bIns="36576" anchor="t">
            <a:spAutoFit/>
          </a:bodyPr>
          <a:lstStyle/>
          <a:p>
            <a:pPr algn="r">
              <a:lnSpc>
                <a:spcPct val="100000"/>
              </a:lnSpc>
            </a:pPr>
            <a:r>
              <a:rPr sz="1250" b="1">
                <a:solidFill>
                  <a:srgbClr val="1F77B4"/>
                </a:solidFill>
                <a:latin typeface="Aptos"/>
              </a:rPr>
              <a:t>+10.2 pp</a:t>
            </a:r>
          </a:p>
        </p:txBody>
      </p:sp>
      <p:sp>
        <p:nvSpPr>
          <p:cNvPr id="10" name="TextBox 9"/>
          <p:cNvSpPr txBox="1"/>
          <p:nvPr/>
        </p:nvSpPr>
        <p:spPr>
          <a:xfrm>
            <a:off x="804672" y="5266944"/>
            <a:ext cx="4663440" cy="228600"/>
          </a:xfrm>
          <a:prstGeom prst="rect">
            <a:avLst/>
          </a:prstGeom>
          <a:noFill/>
        </p:spPr>
        <p:txBody>
          <a:bodyPr wrap="square" lIns="36576" tIns="36576" rIns="36576" bIns="36576" anchor="t">
            <a:spAutoFit/>
          </a:bodyPr>
          <a:lstStyle/>
          <a:p>
            <a:pPr algn="l">
              <a:lnSpc>
                <a:spcPct val="100000"/>
              </a:lnSpc>
            </a:pPr>
            <a:r>
              <a:rPr sz="1050" b="0">
                <a:solidFill>
                  <a:srgbClr val="242B32"/>
                </a:solidFill>
                <a:latin typeface="Aptos"/>
              </a:rPr>
              <a:t>Carga laboral  +3.4 pp     ·     Conciliación  +3.1 pp</a:t>
            </a:r>
          </a:p>
        </p:txBody>
      </p:sp>
      <p:sp>
        <p:nvSpPr>
          <p:cNvPr id="11" name="Rounded Rectangle 10"/>
          <p:cNvSpPr/>
          <p:nvPr/>
        </p:nvSpPr>
        <p:spPr>
          <a:xfrm>
            <a:off x="6053328" y="4370832"/>
            <a:ext cx="5577840" cy="1298448"/>
          </a:xfrm>
          <a:prstGeom prst="roundRect">
            <a:avLst>
              <a:gd name="adj" fmla="val 8000"/>
            </a:avLst>
          </a:prstGeom>
          <a:solidFill>
            <a:srgbClr val="FAF1F1"/>
          </a:solidFill>
          <a:ln>
            <a:solidFill>
              <a:srgbClr val="EBCF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0" y="4572000"/>
            <a:ext cx="4389120" cy="228600"/>
          </a:xfrm>
          <a:prstGeom prst="rect">
            <a:avLst/>
          </a:prstGeom>
          <a:noFill/>
        </p:spPr>
        <p:txBody>
          <a:bodyPr wrap="square" lIns="36576" tIns="36576" rIns="36576" bIns="36576" anchor="t">
            <a:spAutoFit/>
          </a:bodyPr>
          <a:lstStyle/>
          <a:p>
            <a:pPr algn="l">
              <a:lnSpc>
                <a:spcPct val="100000"/>
              </a:lnSpc>
            </a:pPr>
            <a:r>
              <a:rPr sz="880" b="1">
                <a:solidFill>
                  <a:srgbClr val="B94646"/>
                </a:solidFill>
                <a:latin typeface="Aptos"/>
              </a:rPr>
              <a:t>DEBILIDADES DE DB · GAP VS PEERS</a:t>
            </a:r>
          </a:p>
        </p:txBody>
      </p:sp>
      <p:sp>
        <p:nvSpPr>
          <p:cNvPr id="13" name="TextBox 12"/>
          <p:cNvSpPr txBox="1"/>
          <p:nvPr/>
        </p:nvSpPr>
        <p:spPr>
          <a:xfrm>
            <a:off x="6309360" y="4892040"/>
            <a:ext cx="3200400" cy="237744"/>
          </a:xfrm>
          <a:prstGeom prst="rect">
            <a:avLst/>
          </a:prstGeom>
          <a:noFill/>
        </p:spPr>
        <p:txBody>
          <a:bodyPr wrap="square" lIns="36576" tIns="36576" rIns="36576" bIns="36576" anchor="t">
            <a:spAutoFit/>
          </a:bodyPr>
          <a:lstStyle/>
          <a:p>
            <a:pPr algn="l">
              <a:lnSpc>
                <a:spcPct val="100000"/>
              </a:lnSpc>
            </a:pPr>
            <a:r>
              <a:rPr sz="1250" b="1">
                <a:solidFill>
                  <a:srgbClr val="13233A"/>
                </a:solidFill>
                <a:latin typeface="Aptos"/>
              </a:rPr>
              <a:t>Compensación y beneficios</a:t>
            </a:r>
          </a:p>
        </p:txBody>
      </p:sp>
      <p:sp>
        <p:nvSpPr>
          <p:cNvPr id="14" name="TextBox 13"/>
          <p:cNvSpPr txBox="1"/>
          <p:nvPr/>
        </p:nvSpPr>
        <p:spPr>
          <a:xfrm>
            <a:off x="10241280" y="4892040"/>
            <a:ext cx="1005840" cy="237744"/>
          </a:xfrm>
          <a:prstGeom prst="rect">
            <a:avLst/>
          </a:prstGeom>
          <a:noFill/>
        </p:spPr>
        <p:txBody>
          <a:bodyPr wrap="square" lIns="36576" tIns="36576" rIns="36576" bIns="36576" anchor="t">
            <a:spAutoFit/>
          </a:bodyPr>
          <a:lstStyle/>
          <a:p>
            <a:pPr algn="r">
              <a:lnSpc>
                <a:spcPct val="100000"/>
              </a:lnSpc>
            </a:pPr>
            <a:r>
              <a:rPr sz="1250" b="1">
                <a:solidFill>
                  <a:srgbClr val="B94646"/>
                </a:solidFill>
                <a:latin typeface="Aptos"/>
              </a:rPr>
              <a:t>−14.2 pp</a:t>
            </a:r>
          </a:p>
        </p:txBody>
      </p:sp>
      <p:sp>
        <p:nvSpPr>
          <p:cNvPr id="15" name="TextBox 14"/>
          <p:cNvSpPr txBox="1"/>
          <p:nvPr/>
        </p:nvSpPr>
        <p:spPr>
          <a:xfrm>
            <a:off x="6309360" y="5266944"/>
            <a:ext cx="4983480" cy="228600"/>
          </a:xfrm>
          <a:prstGeom prst="rect">
            <a:avLst/>
          </a:prstGeom>
          <a:noFill/>
        </p:spPr>
        <p:txBody>
          <a:bodyPr wrap="square" lIns="36576" tIns="36576" rIns="36576" bIns="36576" anchor="t">
            <a:spAutoFit/>
          </a:bodyPr>
          <a:lstStyle/>
          <a:p>
            <a:pPr algn="l">
              <a:lnSpc>
                <a:spcPct val="100000"/>
              </a:lnSpc>
            </a:pPr>
            <a:r>
              <a:rPr sz="1050" b="0">
                <a:solidFill>
                  <a:srgbClr val="242B32"/>
                </a:solidFill>
                <a:latin typeface="Aptos"/>
              </a:rPr>
              <a:t>Management y dirección  −3.0 pp     ·     Marca y reputación  −1.1 pp</a:t>
            </a:r>
          </a:p>
        </p:txBody>
      </p:sp>
      <p:sp>
        <p:nvSpPr>
          <p:cNvPr id="16" name="Rounded Rectangle 15"/>
          <p:cNvSpPr/>
          <p:nvPr/>
        </p:nvSpPr>
        <p:spPr>
          <a:xfrm>
            <a:off x="548640" y="5833872"/>
            <a:ext cx="11082528" cy="365760"/>
          </a:xfrm>
          <a:prstGeom prst="roundRect">
            <a:avLst>
              <a:gd name="adj" fmla="val 8000"/>
            </a:avLst>
          </a:prstGeom>
          <a:solidFill>
            <a:srgbClr val="13233A"/>
          </a:solidFill>
          <a:ln>
            <a:solidFill>
              <a:srgbClr val="13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5925312"/>
            <a:ext cx="10652760" cy="182880"/>
          </a:xfrm>
          <a:prstGeom prst="rect">
            <a:avLst/>
          </a:prstGeom>
          <a:noFill/>
        </p:spPr>
        <p:txBody>
          <a:bodyPr wrap="square" lIns="36576" tIns="36576" rIns="36576" bIns="36576" anchor="t">
            <a:spAutoFit/>
          </a:bodyPr>
          <a:lstStyle/>
          <a:p>
            <a:pPr algn="ctr">
              <a:lnSpc>
                <a:spcPct val="100000"/>
              </a:lnSpc>
            </a:pPr>
            <a:r>
              <a:rPr sz="1019" b="1">
                <a:solidFill>
                  <a:srgbClr val="FFFFFF"/>
                </a:solidFill>
                <a:latin typeface="Aptos"/>
              </a:rPr>
              <a:t>Compensación es la debilidad más crítica del grupo. Cultura es el activo más diferencial.</a:t>
            </a:r>
          </a:p>
        </p:txBody>
      </p:sp>
      <p:cxnSp>
        <p:nvCxnSpPr>
          <p:cNvPr id="18" name="Connector 17"/>
          <p:cNvCxnSpPr/>
          <p:nvPr/>
        </p:nvCxnSpPr>
        <p:spPr>
          <a:xfrm>
            <a:off x="548640" y="6473952"/>
            <a:ext cx="11082528" cy="0"/>
          </a:xfrm>
          <a:prstGeom prst="line">
            <a:avLst/>
          </a:prstGeom>
          <a:ln w="8890">
            <a:solidFill>
              <a:srgbClr val="E0E4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519672"/>
            <a:ext cx="11064240" cy="182880"/>
          </a:xfrm>
          <a:prstGeom prst="rect">
            <a:avLst/>
          </a:prstGeom>
          <a:noFill/>
        </p:spPr>
        <p:txBody>
          <a:bodyPr wrap="square" lIns="36576" tIns="36576" rIns="36576" bIns="36576" anchor="t">
            <a:spAutoFit/>
          </a:bodyPr>
          <a:lstStyle/>
          <a:p>
            <a:pPr algn="l">
              <a:lnSpc>
                <a:spcPct val="100000"/>
              </a:lnSpc>
            </a:pPr>
            <a:r>
              <a:rPr sz="750" b="0">
                <a:solidFill>
                  <a:srgbClr val="66707A"/>
                </a:solidFill>
                <a:latin typeface="Aptos"/>
              </a:rPr>
              <a:t>Fuente: Glassdoor Job Reviews 1+2 (Kaggle) · 2018–2023 · análisis propio</a:t>
            </a:r>
          </a:p>
        </p:txBody>
      </p:sp>
      <p:grpSp>
        <p:nvGrpSpPr>
          <p:cNvPr id="20" name="Grupo 19">
            <a:extLst>
              <a:ext uri="{FF2B5EF4-FFF2-40B4-BE49-F238E27FC236}">
                <a16:creationId xmlns:a16="http://schemas.microsoft.com/office/drawing/2014/main" id="{D9D44EAD-818A-DA8A-A5E3-0718E41EE6FF}"/>
              </a:ext>
            </a:extLst>
          </p:cNvPr>
          <p:cNvGrpSpPr/>
          <p:nvPr/>
        </p:nvGrpSpPr>
        <p:grpSpPr>
          <a:xfrm>
            <a:off x="9000000" y="360000"/>
            <a:ext cx="2603550" cy="204671"/>
            <a:chOff x="8548980" y="1379289"/>
            <a:chExt cx="2603550" cy="204671"/>
          </a:xfrm>
        </p:grpSpPr>
        <p:sp>
          <p:nvSpPr>
            <p:cNvPr id="21" name="TextBox 3">
              <a:extLst>
                <a:ext uri="{FF2B5EF4-FFF2-40B4-BE49-F238E27FC236}">
                  <a16:creationId xmlns:a16="http://schemas.microsoft.com/office/drawing/2014/main" id="{4D8C756E-5516-4372-BC78-F4949FDEF6BD}"/>
                </a:ext>
              </a:extLst>
            </p:cNvPr>
            <p:cNvSpPr txBox="1"/>
            <p:nvPr/>
          </p:nvSpPr>
          <p:spPr>
            <a:xfrm>
              <a:off x="9685680" y="1379289"/>
              <a:ext cx="781050" cy="204671"/>
            </a:xfrm>
            <a:prstGeom prst="rect">
              <a:avLst/>
            </a:prstGeom>
            <a:noFill/>
          </p:spPr>
          <p:txBody>
            <a:bodyPr wrap="square" lIns="36576" tIns="36576" rIns="36576" bIns="36576" anchor="t">
              <a:spAutoFit/>
            </a:bodyPr>
            <a:lstStyle/>
            <a:p>
              <a:pPr>
                <a:lnSpc>
                  <a:spcPct val="100000"/>
                </a:lnSpc>
              </a:pPr>
              <a:r>
                <a:rPr sz="850" b="1" dirty="0">
                  <a:solidFill>
                    <a:srgbClr val="66707A"/>
                  </a:solidFill>
                  <a:latin typeface="Aptos"/>
                </a:rPr>
                <a:t>05 · TOPICS</a:t>
              </a:r>
            </a:p>
          </p:txBody>
        </p:sp>
        <p:grpSp>
          <p:nvGrpSpPr>
            <p:cNvPr id="22" name="Grupo 21">
              <a:extLst>
                <a:ext uri="{FF2B5EF4-FFF2-40B4-BE49-F238E27FC236}">
                  <a16:creationId xmlns:a16="http://schemas.microsoft.com/office/drawing/2014/main" id="{E6C7D323-49B6-284F-630C-807C34008761}"/>
                </a:ext>
              </a:extLst>
            </p:cNvPr>
            <p:cNvGrpSpPr/>
            <p:nvPr/>
          </p:nvGrpSpPr>
          <p:grpSpPr>
            <a:xfrm>
              <a:off x="8548980" y="1430240"/>
              <a:ext cx="2603550" cy="108000"/>
              <a:chOff x="3025140" y="2042160"/>
              <a:chExt cx="2603550" cy="108000"/>
            </a:xfrm>
          </p:grpSpPr>
          <p:sp>
            <p:nvSpPr>
              <p:cNvPr id="23" name="Diagrama de flujo: conector 22">
                <a:extLst>
                  <a:ext uri="{FF2B5EF4-FFF2-40B4-BE49-F238E27FC236}">
                    <a16:creationId xmlns:a16="http://schemas.microsoft.com/office/drawing/2014/main" id="{FCE371BD-89F9-F812-B266-618494E5CE2C}"/>
                  </a:ext>
                </a:extLst>
              </p:cNvPr>
              <p:cNvSpPr/>
              <p:nvPr/>
            </p:nvSpPr>
            <p:spPr>
              <a:xfrm>
                <a:off x="3025140" y="20421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4" name="Diagrama de flujo: conector 23">
                <a:extLst>
                  <a:ext uri="{FF2B5EF4-FFF2-40B4-BE49-F238E27FC236}">
                    <a16:creationId xmlns:a16="http://schemas.microsoft.com/office/drawing/2014/main" id="{812763E7-FD57-FE31-0AA0-D1FBEA115B3B}"/>
                  </a:ext>
                </a:extLst>
              </p:cNvPr>
              <p:cNvSpPr/>
              <p:nvPr/>
            </p:nvSpPr>
            <p:spPr>
              <a:xfrm>
                <a:off x="3177540" y="20421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5" name="Diagrama de flujo: conector 24">
                <a:extLst>
                  <a:ext uri="{FF2B5EF4-FFF2-40B4-BE49-F238E27FC236}">
                    <a16:creationId xmlns:a16="http://schemas.microsoft.com/office/drawing/2014/main" id="{D706C90B-BE62-7D14-6D45-4D31A5219F3B}"/>
                  </a:ext>
                </a:extLst>
              </p:cNvPr>
              <p:cNvSpPr/>
              <p:nvPr/>
            </p:nvSpPr>
            <p:spPr>
              <a:xfrm>
                <a:off x="3329940" y="20421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6" name="Diagrama de flujo: conector 25">
                <a:extLst>
                  <a:ext uri="{FF2B5EF4-FFF2-40B4-BE49-F238E27FC236}">
                    <a16:creationId xmlns:a16="http://schemas.microsoft.com/office/drawing/2014/main" id="{58E52CA6-D413-C7EB-142E-258EA087DEBA}"/>
                  </a:ext>
                </a:extLst>
              </p:cNvPr>
              <p:cNvSpPr/>
              <p:nvPr/>
            </p:nvSpPr>
            <p:spPr>
              <a:xfrm>
                <a:off x="3482340" y="20421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7" name="Diagrama de flujo: conector 26">
                <a:extLst>
                  <a:ext uri="{FF2B5EF4-FFF2-40B4-BE49-F238E27FC236}">
                    <a16:creationId xmlns:a16="http://schemas.microsoft.com/office/drawing/2014/main" id="{A6763870-6125-6E82-0743-448A2E529882}"/>
                  </a:ext>
                </a:extLst>
              </p:cNvPr>
              <p:cNvSpPr/>
              <p:nvPr/>
            </p:nvSpPr>
            <p:spPr>
              <a:xfrm>
                <a:off x="3634740" y="20421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8" name="Diagrama de flujo: conector 27">
                <a:extLst>
                  <a:ext uri="{FF2B5EF4-FFF2-40B4-BE49-F238E27FC236}">
                    <a16:creationId xmlns:a16="http://schemas.microsoft.com/office/drawing/2014/main" id="{FB77A2E1-47B5-7CB6-755D-374A8DDA37F1}"/>
                  </a:ext>
                </a:extLst>
              </p:cNvPr>
              <p:cNvSpPr/>
              <p:nvPr/>
            </p:nvSpPr>
            <p:spPr>
              <a:xfrm>
                <a:off x="5215890" y="20421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9" name="Diagrama de flujo: conector 28">
                <a:extLst>
                  <a:ext uri="{FF2B5EF4-FFF2-40B4-BE49-F238E27FC236}">
                    <a16:creationId xmlns:a16="http://schemas.microsoft.com/office/drawing/2014/main" id="{5362BFDC-E3DA-5CFE-0218-40D7C526D190}"/>
                  </a:ext>
                </a:extLst>
              </p:cNvPr>
              <p:cNvSpPr/>
              <p:nvPr/>
            </p:nvSpPr>
            <p:spPr>
              <a:xfrm>
                <a:off x="5368290" y="20421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30" name="Diagrama de flujo: conector 29">
                <a:extLst>
                  <a:ext uri="{FF2B5EF4-FFF2-40B4-BE49-F238E27FC236}">
                    <a16:creationId xmlns:a16="http://schemas.microsoft.com/office/drawing/2014/main" id="{D062C3B3-72AA-7E1B-883B-534BDFBBE043}"/>
                  </a:ext>
                </a:extLst>
              </p:cNvPr>
              <p:cNvSpPr/>
              <p:nvPr/>
            </p:nvSpPr>
            <p:spPr>
              <a:xfrm>
                <a:off x="5520690" y="20421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grpSp>
      </p:grpSp>
      <p:sp>
        <p:nvSpPr>
          <p:cNvPr id="4" name="Rectángulo 3">
            <a:extLst>
              <a:ext uri="{FF2B5EF4-FFF2-40B4-BE49-F238E27FC236}">
                <a16:creationId xmlns:a16="http://schemas.microsoft.com/office/drawing/2014/main" id="{D736BADA-33E7-64FD-29DA-1B8848D4AE73}"/>
              </a:ext>
            </a:extLst>
          </p:cNvPr>
          <p:cNvSpPr/>
          <p:nvPr/>
        </p:nvSpPr>
        <p:spPr>
          <a:xfrm>
            <a:off x="-17070" y="0"/>
            <a:ext cx="302820" cy="6858000"/>
          </a:xfrm>
          <a:prstGeom prst="rect">
            <a:avLst/>
          </a:prstGeom>
          <a:gradFill flip="none" rotWithShape="1">
            <a:gsLst>
              <a:gs pos="0">
                <a:schemeClr val="tx2">
                  <a:lumMod val="50000"/>
                </a:schemeClr>
              </a:gs>
              <a:gs pos="58000">
                <a:srgbClr val="E5E7EE"/>
              </a:gs>
              <a:gs pos="29000">
                <a:schemeClr val="tx2">
                  <a:tint val="44500"/>
                  <a:satMod val="160000"/>
                </a:schemeClr>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56032"/>
            <a:ext cx="3897630" cy="458587"/>
          </a:xfrm>
          <a:prstGeom prst="rect">
            <a:avLst/>
          </a:prstGeom>
          <a:noFill/>
        </p:spPr>
        <p:txBody>
          <a:bodyPr wrap="square" lIns="36576" tIns="36576" rIns="36576" bIns="36576" anchor="t">
            <a:spAutoFit/>
          </a:bodyPr>
          <a:lstStyle/>
          <a:p>
            <a:pPr algn="l">
              <a:lnSpc>
                <a:spcPct val="100000"/>
              </a:lnSpc>
            </a:pPr>
            <a:r>
              <a:rPr sz="2500" b="1">
                <a:solidFill>
                  <a:srgbClr val="13233A"/>
                </a:solidFill>
                <a:latin typeface="Aptos"/>
              </a:rPr>
              <a:t>Tres palancas para RRHH</a:t>
            </a:r>
          </a:p>
        </p:txBody>
      </p:sp>
      <p:sp>
        <p:nvSpPr>
          <p:cNvPr id="3" name="Rectangle 2"/>
          <p:cNvSpPr/>
          <p:nvPr/>
        </p:nvSpPr>
        <p:spPr>
          <a:xfrm>
            <a:off x="548640" y="896112"/>
            <a:ext cx="1051560" cy="32004"/>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4.png"/>
          <p:cNvPicPr>
            <a:picLocks noChangeAspect="1"/>
          </p:cNvPicPr>
          <p:nvPr/>
        </p:nvPicPr>
        <p:blipFill>
          <a:blip r:embed="rId3"/>
          <a:stretch>
            <a:fillRect/>
          </a:stretch>
        </p:blipFill>
        <p:spPr>
          <a:xfrm>
            <a:off x="502919" y="1566484"/>
            <a:ext cx="5392765" cy="3547872"/>
          </a:xfrm>
          <a:prstGeom prst="rect">
            <a:avLst/>
          </a:prstGeom>
        </p:spPr>
      </p:pic>
      <p:grpSp>
        <p:nvGrpSpPr>
          <p:cNvPr id="34" name="Grupo 33">
            <a:extLst>
              <a:ext uri="{FF2B5EF4-FFF2-40B4-BE49-F238E27FC236}">
                <a16:creationId xmlns:a16="http://schemas.microsoft.com/office/drawing/2014/main" id="{FB506755-D64D-7F1A-4CA9-7551EEACD7DB}"/>
              </a:ext>
            </a:extLst>
          </p:cNvPr>
          <p:cNvGrpSpPr/>
          <p:nvPr/>
        </p:nvGrpSpPr>
        <p:grpSpPr>
          <a:xfrm>
            <a:off x="5989320" y="1225296"/>
            <a:ext cx="5641848" cy="1271016"/>
            <a:chOff x="5989320" y="1225296"/>
            <a:chExt cx="5641848" cy="1271016"/>
          </a:xfrm>
        </p:grpSpPr>
        <p:sp>
          <p:nvSpPr>
            <p:cNvPr id="6" name="Rounded Rectangle 5"/>
            <p:cNvSpPr/>
            <p:nvPr/>
          </p:nvSpPr>
          <p:spPr>
            <a:xfrm>
              <a:off x="5989320" y="1225296"/>
              <a:ext cx="5641848" cy="1271016"/>
            </a:xfrm>
            <a:prstGeom prst="roundRect">
              <a:avLst>
                <a:gd name="adj" fmla="val 8000"/>
              </a:avLst>
            </a:prstGeom>
            <a:solidFill>
              <a:srgbClr val="FFFFFF"/>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72200" y="1408176"/>
              <a:ext cx="365760" cy="365760"/>
            </a:xfrm>
            <a:prstGeom prst="roundRect">
              <a:avLst>
                <a:gd name="adj" fmla="val 8000"/>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72200" y="1453896"/>
              <a:ext cx="365760" cy="182880"/>
            </a:xfrm>
            <a:prstGeom prst="rect">
              <a:avLst/>
            </a:prstGeom>
            <a:noFill/>
          </p:spPr>
          <p:txBody>
            <a:bodyPr wrap="square" lIns="36576" tIns="36576" rIns="36576" bIns="36576" anchor="t">
              <a:spAutoFit/>
            </a:bodyPr>
            <a:lstStyle/>
            <a:p>
              <a:pPr algn="ctr">
                <a:lnSpc>
                  <a:spcPct val="100000"/>
                </a:lnSpc>
              </a:pPr>
              <a:r>
                <a:rPr sz="950" b="1">
                  <a:solidFill>
                    <a:srgbClr val="FFFFFF"/>
                  </a:solidFill>
                  <a:latin typeface="Aptos"/>
                </a:rPr>
                <a:t>1</a:t>
              </a:r>
            </a:p>
          </p:txBody>
        </p:sp>
        <p:sp>
          <p:nvSpPr>
            <p:cNvPr id="9" name="TextBox 8"/>
            <p:cNvSpPr txBox="1"/>
            <p:nvPr/>
          </p:nvSpPr>
          <p:spPr>
            <a:xfrm>
              <a:off x="6720840" y="1389888"/>
              <a:ext cx="4526280" cy="274320"/>
            </a:xfrm>
            <a:prstGeom prst="rect">
              <a:avLst/>
            </a:prstGeom>
            <a:noFill/>
          </p:spPr>
          <p:txBody>
            <a:bodyPr wrap="square" lIns="36576" tIns="36576" rIns="36576" bIns="36576" anchor="t">
              <a:spAutoFit/>
            </a:bodyPr>
            <a:lstStyle/>
            <a:p>
              <a:pPr algn="l">
                <a:lnSpc>
                  <a:spcPct val="100000"/>
                </a:lnSpc>
              </a:pPr>
              <a:r>
                <a:rPr sz="1320" b="1">
                  <a:solidFill>
                    <a:srgbClr val="13233A"/>
                  </a:solidFill>
                  <a:latin typeface="Aptos"/>
                </a:rPr>
                <a:t>Auditoría de compensación vs peers</a:t>
              </a:r>
            </a:p>
          </p:txBody>
        </p:sp>
        <p:sp>
          <p:nvSpPr>
            <p:cNvPr id="10" name="TextBox 9"/>
            <p:cNvSpPr txBox="1"/>
            <p:nvPr/>
          </p:nvSpPr>
          <p:spPr>
            <a:xfrm>
              <a:off x="6720840" y="1737360"/>
              <a:ext cx="4526280" cy="228600"/>
            </a:xfrm>
            <a:prstGeom prst="rect">
              <a:avLst/>
            </a:prstGeom>
            <a:noFill/>
          </p:spPr>
          <p:txBody>
            <a:bodyPr wrap="square" lIns="36576" tIns="36576" rIns="36576" bIns="36576" anchor="t">
              <a:spAutoFit/>
            </a:bodyPr>
            <a:lstStyle/>
            <a:p>
              <a:pPr algn="l">
                <a:lnSpc>
                  <a:spcPct val="100000"/>
                </a:lnSpc>
              </a:pPr>
              <a:r>
                <a:rPr sz="1050" b="0">
                  <a:solidFill>
                    <a:srgbClr val="242B32"/>
                  </a:solidFill>
                  <a:latin typeface="Aptos"/>
                </a:rPr>
                <a:t>Gap actual: −14.2 pp (peor del grupo)</a:t>
              </a:r>
            </a:p>
          </p:txBody>
        </p:sp>
        <p:sp>
          <p:nvSpPr>
            <p:cNvPr id="11" name="TextBox 10"/>
            <p:cNvSpPr txBox="1"/>
            <p:nvPr/>
          </p:nvSpPr>
          <p:spPr>
            <a:xfrm>
              <a:off x="6720840" y="2029968"/>
              <a:ext cx="1828800" cy="228600"/>
            </a:xfrm>
            <a:prstGeom prst="rect">
              <a:avLst/>
            </a:prstGeom>
            <a:noFill/>
          </p:spPr>
          <p:txBody>
            <a:bodyPr wrap="square" lIns="36576" tIns="36576" rIns="36576" bIns="36576" anchor="t">
              <a:spAutoFit/>
            </a:bodyPr>
            <a:lstStyle/>
            <a:p>
              <a:pPr algn="l">
                <a:lnSpc>
                  <a:spcPct val="100000"/>
                </a:lnSpc>
              </a:pPr>
              <a:r>
                <a:rPr sz="1019" b="1">
                  <a:solidFill>
                    <a:srgbClr val="66707A"/>
                  </a:solidFill>
                  <a:latin typeface="Aptos"/>
                </a:rPr>
                <a:t>Objetivo: 12 meses</a:t>
              </a:r>
            </a:p>
          </p:txBody>
        </p:sp>
        <p:sp>
          <p:nvSpPr>
            <p:cNvPr id="12" name="TextBox 11"/>
            <p:cNvSpPr txBox="1"/>
            <p:nvPr/>
          </p:nvSpPr>
          <p:spPr>
            <a:xfrm>
              <a:off x="8412480" y="2029968"/>
              <a:ext cx="2880360" cy="365760"/>
            </a:xfrm>
            <a:prstGeom prst="rect">
              <a:avLst/>
            </a:prstGeom>
            <a:noFill/>
          </p:spPr>
          <p:txBody>
            <a:bodyPr wrap="square" lIns="36576" tIns="36576" rIns="36576" bIns="36576" anchor="t">
              <a:spAutoFit/>
            </a:bodyPr>
            <a:lstStyle/>
            <a:p>
              <a:pPr algn="l">
                <a:lnSpc>
                  <a:spcPct val="100000"/>
                </a:lnSpc>
              </a:pPr>
              <a:r>
                <a:rPr sz="980" b="0">
                  <a:solidFill>
                    <a:srgbClr val="242B32"/>
                  </a:solidFill>
                  <a:latin typeface="Aptos"/>
                </a:rPr>
                <a:t>KPI: subir menciones positivas de salario del 27% al 32%</a:t>
              </a:r>
            </a:p>
          </p:txBody>
        </p:sp>
      </p:grpSp>
      <p:grpSp>
        <p:nvGrpSpPr>
          <p:cNvPr id="33" name="Grupo 32">
            <a:extLst>
              <a:ext uri="{FF2B5EF4-FFF2-40B4-BE49-F238E27FC236}">
                <a16:creationId xmlns:a16="http://schemas.microsoft.com/office/drawing/2014/main" id="{D7FD567F-849C-C0A0-AB3C-414225F7B224}"/>
              </a:ext>
            </a:extLst>
          </p:cNvPr>
          <p:cNvGrpSpPr/>
          <p:nvPr/>
        </p:nvGrpSpPr>
        <p:grpSpPr>
          <a:xfrm>
            <a:off x="5989320" y="2751838"/>
            <a:ext cx="5641848" cy="1170431"/>
            <a:chOff x="5989320" y="2752344"/>
            <a:chExt cx="5641848" cy="1170431"/>
          </a:xfrm>
        </p:grpSpPr>
        <p:sp>
          <p:nvSpPr>
            <p:cNvPr id="13" name="Rounded Rectangle 12"/>
            <p:cNvSpPr/>
            <p:nvPr/>
          </p:nvSpPr>
          <p:spPr>
            <a:xfrm>
              <a:off x="5989320" y="2752344"/>
              <a:ext cx="5641848" cy="1170431"/>
            </a:xfrm>
            <a:prstGeom prst="roundRect">
              <a:avLst>
                <a:gd name="adj" fmla="val 8000"/>
              </a:avLst>
            </a:prstGeom>
            <a:solidFill>
              <a:srgbClr val="FFFFFF"/>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72200" y="2935224"/>
              <a:ext cx="365760" cy="365760"/>
            </a:xfrm>
            <a:prstGeom prst="roundRect">
              <a:avLst>
                <a:gd name="adj" fmla="val 8000"/>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72200" y="2980944"/>
              <a:ext cx="365760" cy="182880"/>
            </a:xfrm>
            <a:prstGeom prst="rect">
              <a:avLst/>
            </a:prstGeom>
            <a:noFill/>
          </p:spPr>
          <p:txBody>
            <a:bodyPr wrap="square" lIns="36576" tIns="36576" rIns="36576" bIns="36576" anchor="t">
              <a:spAutoFit/>
            </a:bodyPr>
            <a:lstStyle/>
            <a:p>
              <a:pPr algn="ctr">
                <a:lnSpc>
                  <a:spcPct val="100000"/>
                </a:lnSpc>
              </a:pPr>
              <a:r>
                <a:rPr sz="950" b="1">
                  <a:solidFill>
                    <a:srgbClr val="FFFFFF"/>
                  </a:solidFill>
                  <a:latin typeface="Aptos"/>
                </a:rPr>
                <a:t>2</a:t>
              </a:r>
            </a:p>
          </p:txBody>
        </p:sp>
        <p:sp>
          <p:nvSpPr>
            <p:cNvPr id="16" name="TextBox 15"/>
            <p:cNvSpPr txBox="1"/>
            <p:nvPr/>
          </p:nvSpPr>
          <p:spPr>
            <a:xfrm>
              <a:off x="6720840" y="2916936"/>
              <a:ext cx="4526280" cy="274320"/>
            </a:xfrm>
            <a:prstGeom prst="rect">
              <a:avLst/>
            </a:prstGeom>
            <a:noFill/>
          </p:spPr>
          <p:txBody>
            <a:bodyPr wrap="square" lIns="36576" tIns="36576" rIns="36576" bIns="36576" anchor="t">
              <a:spAutoFit/>
            </a:bodyPr>
            <a:lstStyle/>
            <a:p>
              <a:pPr algn="l">
                <a:lnSpc>
                  <a:spcPct val="100000"/>
                </a:lnSpc>
              </a:pPr>
              <a:r>
                <a:rPr sz="1320" b="1">
                  <a:solidFill>
                    <a:srgbClr val="13233A"/>
                  </a:solidFill>
                  <a:latin typeface="Aptos"/>
                </a:rPr>
                <a:t>Campaña de marca anclada en cultura</a:t>
              </a:r>
            </a:p>
          </p:txBody>
        </p:sp>
        <p:sp>
          <p:nvSpPr>
            <p:cNvPr id="17" name="TextBox 16"/>
            <p:cNvSpPr txBox="1"/>
            <p:nvPr/>
          </p:nvSpPr>
          <p:spPr>
            <a:xfrm>
              <a:off x="6720840" y="3264408"/>
              <a:ext cx="4526280" cy="228600"/>
            </a:xfrm>
            <a:prstGeom prst="rect">
              <a:avLst/>
            </a:prstGeom>
            <a:noFill/>
          </p:spPr>
          <p:txBody>
            <a:bodyPr wrap="square" lIns="36576" tIns="36576" rIns="36576" bIns="36576" anchor="t">
              <a:spAutoFit/>
            </a:bodyPr>
            <a:lstStyle/>
            <a:p>
              <a:pPr algn="l">
                <a:lnSpc>
                  <a:spcPct val="100000"/>
                </a:lnSpc>
              </a:pPr>
              <a:r>
                <a:rPr sz="1050" b="0">
                  <a:solidFill>
                    <a:srgbClr val="242B32"/>
                  </a:solidFill>
                  <a:latin typeface="Aptos"/>
                </a:rPr>
                <a:t>Diagnóstico: DB es top-1 en cultura, bottom-1 en marca</a:t>
              </a:r>
            </a:p>
          </p:txBody>
        </p:sp>
        <p:sp>
          <p:nvSpPr>
            <p:cNvPr id="18" name="TextBox 17"/>
            <p:cNvSpPr txBox="1"/>
            <p:nvPr/>
          </p:nvSpPr>
          <p:spPr>
            <a:xfrm>
              <a:off x="6720840" y="3557015"/>
              <a:ext cx="1828800" cy="228600"/>
            </a:xfrm>
            <a:prstGeom prst="rect">
              <a:avLst/>
            </a:prstGeom>
            <a:noFill/>
          </p:spPr>
          <p:txBody>
            <a:bodyPr wrap="square" lIns="36576" tIns="36576" rIns="36576" bIns="36576" anchor="t">
              <a:spAutoFit/>
            </a:bodyPr>
            <a:lstStyle/>
            <a:p>
              <a:pPr algn="l">
                <a:lnSpc>
                  <a:spcPct val="100000"/>
                </a:lnSpc>
              </a:pPr>
              <a:r>
                <a:rPr sz="1019" b="1">
                  <a:solidFill>
                    <a:srgbClr val="66707A"/>
                  </a:solidFill>
                  <a:latin typeface="Aptos"/>
                </a:rPr>
                <a:t>Objetivo: 12 meses</a:t>
              </a:r>
            </a:p>
          </p:txBody>
        </p:sp>
        <p:sp>
          <p:nvSpPr>
            <p:cNvPr id="19" name="TextBox 18"/>
            <p:cNvSpPr txBox="1"/>
            <p:nvPr/>
          </p:nvSpPr>
          <p:spPr>
            <a:xfrm>
              <a:off x="8412480" y="3557015"/>
              <a:ext cx="2880360" cy="365760"/>
            </a:xfrm>
            <a:prstGeom prst="rect">
              <a:avLst/>
            </a:prstGeom>
            <a:noFill/>
          </p:spPr>
          <p:txBody>
            <a:bodyPr wrap="square" lIns="36576" tIns="36576" rIns="36576" bIns="36576" anchor="t">
              <a:spAutoFit/>
            </a:bodyPr>
            <a:lstStyle/>
            <a:p>
              <a:pPr algn="l">
                <a:lnSpc>
                  <a:spcPct val="100000"/>
                </a:lnSpc>
              </a:pPr>
              <a:r>
                <a:rPr sz="980" b="0">
                  <a:solidFill>
                    <a:srgbClr val="242B32"/>
                  </a:solidFill>
                  <a:latin typeface="Aptos"/>
                </a:rPr>
                <a:t>KPI: subir % de recomendación del 41% al 47%</a:t>
              </a:r>
            </a:p>
          </p:txBody>
        </p:sp>
      </p:grpSp>
      <p:grpSp>
        <p:nvGrpSpPr>
          <p:cNvPr id="32" name="Grupo 31">
            <a:extLst>
              <a:ext uri="{FF2B5EF4-FFF2-40B4-BE49-F238E27FC236}">
                <a16:creationId xmlns:a16="http://schemas.microsoft.com/office/drawing/2014/main" id="{65E5FDC9-E1CC-43B1-B605-00B561624554}"/>
              </a:ext>
            </a:extLst>
          </p:cNvPr>
          <p:cNvGrpSpPr/>
          <p:nvPr/>
        </p:nvGrpSpPr>
        <p:grpSpPr>
          <a:xfrm>
            <a:off x="5989320" y="4177795"/>
            <a:ext cx="5641848" cy="1253746"/>
            <a:chOff x="5989320" y="4233212"/>
            <a:chExt cx="5641848" cy="1253746"/>
          </a:xfrm>
        </p:grpSpPr>
        <p:sp>
          <p:nvSpPr>
            <p:cNvPr id="20" name="Rounded Rectangle 19"/>
            <p:cNvSpPr/>
            <p:nvPr/>
          </p:nvSpPr>
          <p:spPr>
            <a:xfrm>
              <a:off x="5989320" y="4233212"/>
              <a:ext cx="5641848" cy="1253746"/>
            </a:xfrm>
            <a:prstGeom prst="roundRect">
              <a:avLst>
                <a:gd name="adj" fmla="val 8000"/>
              </a:avLst>
            </a:prstGeom>
            <a:solidFill>
              <a:srgbClr val="FFFFFF"/>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172200" y="4416092"/>
              <a:ext cx="365760" cy="365760"/>
            </a:xfrm>
            <a:prstGeom prst="roundRect">
              <a:avLst>
                <a:gd name="adj" fmla="val 8000"/>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72200" y="4461812"/>
              <a:ext cx="365760" cy="182880"/>
            </a:xfrm>
            <a:prstGeom prst="rect">
              <a:avLst/>
            </a:prstGeom>
            <a:noFill/>
          </p:spPr>
          <p:txBody>
            <a:bodyPr wrap="square" lIns="36576" tIns="36576" rIns="36576" bIns="36576" anchor="t">
              <a:spAutoFit/>
            </a:bodyPr>
            <a:lstStyle/>
            <a:p>
              <a:pPr algn="ctr">
                <a:lnSpc>
                  <a:spcPct val="100000"/>
                </a:lnSpc>
              </a:pPr>
              <a:r>
                <a:rPr sz="950" b="1">
                  <a:solidFill>
                    <a:srgbClr val="FFFFFF"/>
                  </a:solidFill>
                  <a:latin typeface="Aptos"/>
                </a:rPr>
                <a:t>3</a:t>
              </a:r>
            </a:p>
          </p:txBody>
        </p:sp>
        <p:sp>
          <p:nvSpPr>
            <p:cNvPr id="23" name="TextBox 22"/>
            <p:cNvSpPr txBox="1"/>
            <p:nvPr/>
          </p:nvSpPr>
          <p:spPr>
            <a:xfrm>
              <a:off x="6720840" y="4397803"/>
              <a:ext cx="4526280" cy="274320"/>
            </a:xfrm>
            <a:prstGeom prst="rect">
              <a:avLst/>
            </a:prstGeom>
            <a:noFill/>
          </p:spPr>
          <p:txBody>
            <a:bodyPr wrap="square" lIns="36576" tIns="36576" rIns="36576" bIns="36576" anchor="t">
              <a:spAutoFit/>
            </a:bodyPr>
            <a:lstStyle/>
            <a:p>
              <a:pPr algn="l">
                <a:lnSpc>
                  <a:spcPct val="100000"/>
                </a:lnSpc>
              </a:pPr>
              <a:r>
                <a:rPr sz="1320" b="1">
                  <a:solidFill>
                    <a:srgbClr val="13233A"/>
                  </a:solidFill>
                  <a:latin typeface="Aptos"/>
                </a:rPr>
                <a:t>Programa de simplificación de procesos</a:t>
              </a:r>
            </a:p>
          </p:txBody>
        </p:sp>
        <p:sp>
          <p:nvSpPr>
            <p:cNvPr id="24" name="TextBox 23"/>
            <p:cNvSpPr txBox="1"/>
            <p:nvPr/>
          </p:nvSpPr>
          <p:spPr>
            <a:xfrm>
              <a:off x="6720840" y="4745276"/>
              <a:ext cx="4526280" cy="228600"/>
            </a:xfrm>
            <a:prstGeom prst="rect">
              <a:avLst/>
            </a:prstGeom>
            <a:noFill/>
          </p:spPr>
          <p:txBody>
            <a:bodyPr wrap="square" lIns="36576" tIns="36576" rIns="36576" bIns="36576" anchor="t">
              <a:spAutoFit/>
            </a:bodyPr>
            <a:lstStyle/>
            <a:p>
              <a:pPr algn="l">
                <a:lnSpc>
                  <a:spcPct val="100000"/>
                </a:lnSpc>
              </a:pPr>
              <a:r>
                <a:rPr sz="1050" b="0" dirty="0" err="1">
                  <a:solidFill>
                    <a:srgbClr val="242B32"/>
                  </a:solidFill>
                  <a:latin typeface="Aptos"/>
                </a:rPr>
                <a:t>Diagnóstico</a:t>
              </a:r>
              <a:r>
                <a:rPr sz="1050" b="0" dirty="0">
                  <a:solidFill>
                    <a:srgbClr val="242B32"/>
                  </a:solidFill>
                  <a:latin typeface="Aptos"/>
                </a:rPr>
                <a:t>: </a:t>
              </a:r>
              <a:r>
                <a:rPr sz="1050" b="0" dirty="0" err="1">
                  <a:solidFill>
                    <a:srgbClr val="242B32"/>
                  </a:solidFill>
                  <a:latin typeface="Aptos"/>
                </a:rPr>
                <a:t>burocracia</a:t>
              </a:r>
              <a:r>
                <a:rPr sz="1050" b="0" dirty="0">
                  <a:solidFill>
                    <a:srgbClr val="242B32"/>
                  </a:solidFill>
                  <a:latin typeface="Aptos"/>
                </a:rPr>
                <a:t> = </a:t>
              </a:r>
              <a:r>
                <a:rPr sz="1050" b="0" dirty="0" err="1">
                  <a:solidFill>
                    <a:srgbClr val="242B32"/>
                  </a:solidFill>
                  <a:latin typeface="Aptos"/>
                </a:rPr>
                <a:t>motivo</a:t>
              </a:r>
              <a:r>
                <a:rPr sz="1050" b="0" dirty="0">
                  <a:solidFill>
                    <a:srgbClr val="242B32"/>
                  </a:solidFill>
                  <a:latin typeface="Aptos"/>
                </a:rPr>
                <a:t> #1 de </a:t>
              </a:r>
              <a:r>
                <a:rPr sz="1050" b="0" dirty="0" err="1">
                  <a:solidFill>
                    <a:srgbClr val="242B32"/>
                  </a:solidFill>
                  <a:latin typeface="Aptos"/>
                </a:rPr>
                <a:t>salida</a:t>
              </a:r>
              <a:r>
                <a:rPr sz="1050" b="0" dirty="0">
                  <a:solidFill>
                    <a:srgbClr val="242B32"/>
                  </a:solidFill>
                  <a:latin typeface="Aptos"/>
                </a:rPr>
                <a:t> (26.8%)</a:t>
              </a:r>
            </a:p>
          </p:txBody>
        </p:sp>
        <p:sp>
          <p:nvSpPr>
            <p:cNvPr id="25" name="TextBox 24"/>
            <p:cNvSpPr txBox="1"/>
            <p:nvPr/>
          </p:nvSpPr>
          <p:spPr>
            <a:xfrm>
              <a:off x="6720840" y="5037884"/>
              <a:ext cx="1828800" cy="228600"/>
            </a:xfrm>
            <a:prstGeom prst="rect">
              <a:avLst/>
            </a:prstGeom>
            <a:noFill/>
          </p:spPr>
          <p:txBody>
            <a:bodyPr wrap="square" lIns="36576" tIns="36576" rIns="36576" bIns="36576" anchor="t">
              <a:spAutoFit/>
            </a:bodyPr>
            <a:lstStyle/>
            <a:p>
              <a:pPr algn="l">
                <a:lnSpc>
                  <a:spcPct val="100000"/>
                </a:lnSpc>
              </a:pPr>
              <a:r>
                <a:rPr sz="1019" b="1">
                  <a:solidFill>
                    <a:srgbClr val="66707A"/>
                  </a:solidFill>
                  <a:latin typeface="Aptos"/>
                </a:rPr>
                <a:t>Objetivo: 12 meses</a:t>
              </a:r>
            </a:p>
          </p:txBody>
        </p:sp>
        <p:sp>
          <p:nvSpPr>
            <p:cNvPr id="26" name="TextBox 25"/>
            <p:cNvSpPr txBox="1"/>
            <p:nvPr/>
          </p:nvSpPr>
          <p:spPr>
            <a:xfrm>
              <a:off x="8412480" y="5037884"/>
              <a:ext cx="2880360" cy="365760"/>
            </a:xfrm>
            <a:prstGeom prst="rect">
              <a:avLst/>
            </a:prstGeom>
            <a:noFill/>
          </p:spPr>
          <p:txBody>
            <a:bodyPr wrap="square" lIns="36576" tIns="36576" rIns="36576" bIns="36576" anchor="t">
              <a:spAutoFit/>
            </a:bodyPr>
            <a:lstStyle/>
            <a:p>
              <a:pPr algn="l">
                <a:lnSpc>
                  <a:spcPct val="100000"/>
                </a:lnSpc>
              </a:pPr>
              <a:r>
                <a:rPr sz="980" b="0">
                  <a:solidFill>
                    <a:srgbClr val="242B32"/>
                  </a:solidFill>
                  <a:latin typeface="Aptos"/>
                </a:rPr>
                <a:t>KPI: reducir menciones de burocracia del 26.4% al 22%</a:t>
              </a:r>
            </a:p>
          </p:txBody>
        </p:sp>
      </p:grpSp>
      <p:sp>
        <p:nvSpPr>
          <p:cNvPr id="27" name="Rounded Rectangle 26"/>
          <p:cNvSpPr/>
          <p:nvPr/>
        </p:nvSpPr>
        <p:spPr>
          <a:xfrm>
            <a:off x="548640" y="5687568"/>
            <a:ext cx="11082528" cy="347472"/>
          </a:xfrm>
          <a:prstGeom prst="roundRect">
            <a:avLst>
              <a:gd name="adj" fmla="val 8000"/>
            </a:avLst>
          </a:prstGeom>
          <a:solidFill>
            <a:srgbClr val="F6F7F9"/>
          </a:solidFill>
          <a:ln>
            <a:solidFill>
              <a:srgbClr val="E0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5774301"/>
            <a:ext cx="1097280" cy="201168"/>
          </a:xfrm>
          <a:prstGeom prst="rect">
            <a:avLst/>
          </a:prstGeom>
          <a:noFill/>
        </p:spPr>
        <p:txBody>
          <a:bodyPr wrap="square" lIns="36576" tIns="36576" rIns="36576" bIns="36576" anchor="t">
            <a:spAutoFit/>
          </a:bodyPr>
          <a:lstStyle/>
          <a:p>
            <a:pPr algn="l">
              <a:lnSpc>
                <a:spcPct val="100000"/>
              </a:lnSpc>
            </a:pPr>
            <a:r>
              <a:rPr sz="850" b="1" dirty="0" err="1">
                <a:solidFill>
                  <a:srgbClr val="66707A"/>
                </a:solidFill>
                <a:latin typeface="Aptos"/>
              </a:rPr>
              <a:t>LIMITACIONES</a:t>
            </a:r>
            <a:endParaRPr sz="850" b="1" dirty="0">
              <a:solidFill>
                <a:srgbClr val="66707A"/>
              </a:solidFill>
              <a:latin typeface="Aptos"/>
            </a:endParaRPr>
          </a:p>
        </p:txBody>
      </p:sp>
      <p:sp>
        <p:nvSpPr>
          <p:cNvPr id="29" name="TextBox 28"/>
          <p:cNvSpPr txBox="1"/>
          <p:nvPr/>
        </p:nvSpPr>
        <p:spPr>
          <a:xfrm>
            <a:off x="1874519" y="5765617"/>
            <a:ext cx="9281160" cy="438912"/>
          </a:xfrm>
          <a:prstGeom prst="rect">
            <a:avLst/>
          </a:prstGeom>
          <a:noFill/>
        </p:spPr>
        <p:txBody>
          <a:bodyPr wrap="square" lIns="36576" tIns="36576" rIns="36576" bIns="36576" anchor="t">
            <a:spAutoFit/>
          </a:bodyPr>
          <a:lstStyle/>
          <a:p>
            <a:pPr algn="l">
              <a:lnSpc>
                <a:spcPct val="100000"/>
              </a:lnSpc>
            </a:pPr>
            <a:r>
              <a:rPr sz="1019" b="0" dirty="0">
                <a:solidFill>
                  <a:srgbClr val="242B32"/>
                </a:solidFill>
                <a:latin typeface="Aptos"/>
              </a:rPr>
              <a:t>Glassdoor no es </a:t>
            </a:r>
            <a:r>
              <a:rPr sz="1019" b="0" dirty="0" err="1">
                <a:solidFill>
                  <a:srgbClr val="242B32"/>
                </a:solidFill>
                <a:latin typeface="Aptos"/>
              </a:rPr>
              <a:t>representativo</a:t>
            </a:r>
            <a:r>
              <a:rPr sz="1019" b="0" dirty="0">
                <a:solidFill>
                  <a:srgbClr val="242B32"/>
                </a:solidFill>
                <a:latin typeface="Aptos"/>
              </a:rPr>
              <a:t> de </a:t>
            </a:r>
            <a:r>
              <a:rPr sz="1019" b="0" dirty="0" err="1">
                <a:solidFill>
                  <a:srgbClr val="242B32"/>
                </a:solidFill>
                <a:latin typeface="Aptos"/>
              </a:rPr>
              <a:t>toda</a:t>
            </a:r>
            <a:r>
              <a:rPr sz="1019" b="0" dirty="0">
                <a:solidFill>
                  <a:srgbClr val="242B32"/>
                </a:solidFill>
                <a:latin typeface="Aptos"/>
              </a:rPr>
              <a:t> la </a:t>
            </a:r>
            <a:r>
              <a:rPr sz="1019" b="0" dirty="0" err="1">
                <a:solidFill>
                  <a:srgbClr val="242B32"/>
                </a:solidFill>
                <a:latin typeface="Aptos"/>
              </a:rPr>
              <a:t>plantilla</a:t>
            </a:r>
            <a:r>
              <a:rPr sz="1019" b="0" dirty="0">
                <a:solidFill>
                  <a:srgbClr val="242B32"/>
                </a:solidFill>
                <a:latin typeface="Aptos"/>
              </a:rPr>
              <a:t> · la </a:t>
            </a:r>
            <a:r>
              <a:rPr sz="1019" b="0" dirty="0" err="1">
                <a:solidFill>
                  <a:srgbClr val="242B32"/>
                </a:solidFill>
                <a:latin typeface="Aptos"/>
              </a:rPr>
              <a:t>muestra</a:t>
            </a:r>
            <a:r>
              <a:rPr sz="1019" b="0" dirty="0">
                <a:solidFill>
                  <a:srgbClr val="242B32"/>
                </a:solidFill>
                <a:latin typeface="Aptos"/>
              </a:rPr>
              <a:t> </a:t>
            </a:r>
            <a:r>
              <a:rPr sz="1019" b="0" dirty="0" err="1">
                <a:solidFill>
                  <a:srgbClr val="242B32"/>
                </a:solidFill>
                <a:latin typeface="Aptos"/>
              </a:rPr>
              <a:t>mezcla</a:t>
            </a:r>
            <a:r>
              <a:rPr sz="1019" b="0" dirty="0">
                <a:solidFill>
                  <a:srgbClr val="242B32"/>
                </a:solidFill>
                <a:latin typeface="Aptos"/>
              </a:rPr>
              <a:t> </a:t>
            </a:r>
            <a:r>
              <a:rPr sz="1019" b="0" dirty="0" err="1">
                <a:solidFill>
                  <a:srgbClr val="242B32"/>
                </a:solidFill>
                <a:latin typeface="Aptos"/>
              </a:rPr>
              <a:t>países</a:t>
            </a:r>
            <a:r>
              <a:rPr sz="1019" b="0" dirty="0">
                <a:solidFill>
                  <a:srgbClr val="242B32"/>
                </a:solidFill>
                <a:latin typeface="Aptos"/>
              </a:rPr>
              <a:t> y </a:t>
            </a:r>
            <a:r>
              <a:rPr sz="1019" b="0" dirty="0" err="1">
                <a:solidFill>
                  <a:srgbClr val="242B32"/>
                </a:solidFill>
                <a:latin typeface="Aptos"/>
              </a:rPr>
              <a:t>áreas</a:t>
            </a:r>
            <a:r>
              <a:rPr sz="1019" b="0" dirty="0">
                <a:solidFill>
                  <a:srgbClr val="242B32"/>
                </a:solidFill>
                <a:latin typeface="Aptos"/>
              </a:rPr>
              <a:t> · </a:t>
            </a:r>
            <a:r>
              <a:rPr sz="1019" b="0" dirty="0" err="1">
                <a:solidFill>
                  <a:srgbClr val="242B32"/>
                </a:solidFill>
                <a:latin typeface="Aptos"/>
              </a:rPr>
              <a:t>los</a:t>
            </a:r>
            <a:r>
              <a:rPr sz="1019" b="0" dirty="0">
                <a:solidFill>
                  <a:srgbClr val="242B32"/>
                </a:solidFill>
                <a:latin typeface="Aptos"/>
              </a:rPr>
              <a:t> topics son </a:t>
            </a:r>
            <a:r>
              <a:rPr sz="1019" b="0" dirty="0" err="1">
                <a:solidFill>
                  <a:srgbClr val="242B32"/>
                </a:solidFill>
                <a:latin typeface="Aptos"/>
              </a:rPr>
              <a:t>aproximaciones</a:t>
            </a:r>
            <a:r>
              <a:rPr sz="1019" b="0" dirty="0">
                <a:solidFill>
                  <a:srgbClr val="242B32"/>
                </a:solidFill>
                <a:latin typeface="Aptos"/>
              </a:rPr>
              <a:t>, no </a:t>
            </a:r>
            <a:r>
              <a:rPr sz="1019" b="0" dirty="0" err="1">
                <a:solidFill>
                  <a:srgbClr val="242B32"/>
                </a:solidFill>
                <a:latin typeface="Aptos"/>
              </a:rPr>
              <a:t>verdades</a:t>
            </a:r>
            <a:r>
              <a:rPr sz="1019" b="0" dirty="0">
                <a:solidFill>
                  <a:srgbClr val="242B32"/>
                </a:solidFill>
                <a:latin typeface="Aptos"/>
              </a:rPr>
              <a:t> </a:t>
            </a:r>
            <a:r>
              <a:rPr sz="1019" b="0" dirty="0" err="1">
                <a:solidFill>
                  <a:srgbClr val="242B32"/>
                </a:solidFill>
                <a:latin typeface="Aptos"/>
              </a:rPr>
              <a:t>absolutas</a:t>
            </a:r>
            <a:r>
              <a:rPr sz="1019" b="0" dirty="0">
                <a:solidFill>
                  <a:srgbClr val="242B32"/>
                </a:solidFill>
                <a:latin typeface="Aptos"/>
              </a:rPr>
              <a:t>.</a:t>
            </a:r>
          </a:p>
        </p:txBody>
      </p:sp>
      <p:cxnSp>
        <p:nvCxnSpPr>
          <p:cNvPr id="30" name="Connector 29"/>
          <p:cNvCxnSpPr/>
          <p:nvPr/>
        </p:nvCxnSpPr>
        <p:spPr>
          <a:xfrm>
            <a:off x="548640" y="6473952"/>
            <a:ext cx="11082528" cy="0"/>
          </a:xfrm>
          <a:prstGeom prst="line">
            <a:avLst/>
          </a:prstGeom>
          <a:ln w="8890">
            <a:solidFill>
              <a:srgbClr val="E0E4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6519672"/>
            <a:ext cx="11064240" cy="182880"/>
          </a:xfrm>
          <a:prstGeom prst="rect">
            <a:avLst/>
          </a:prstGeom>
          <a:noFill/>
        </p:spPr>
        <p:txBody>
          <a:bodyPr wrap="square" lIns="36576" tIns="36576" rIns="36576" bIns="36576" anchor="t">
            <a:spAutoFit/>
          </a:bodyPr>
          <a:lstStyle/>
          <a:p>
            <a:pPr algn="l">
              <a:lnSpc>
                <a:spcPct val="100000"/>
              </a:lnSpc>
            </a:pPr>
            <a:r>
              <a:rPr sz="750" b="0" dirty="0">
                <a:solidFill>
                  <a:srgbClr val="66707A"/>
                </a:solidFill>
                <a:latin typeface="Aptos"/>
              </a:rPr>
              <a:t>Fuente: Glassdoor Job Reviews 1+2 (Kaggle) · 2018–2023 </a:t>
            </a:r>
            <a:r>
              <a:rPr lang="es-ES" sz="750" b="0" dirty="0">
                <a:solidFill>
                  <a:srgbClr val="66707A"/>
                </a:solidFill>
                <a:latin typeface="Aptos"/>
              </a:rPr>
              <a:t>· análisis propio</a:t>
            </a:r>
            <a:endParaRPr sz="750" b="0" dirty="0">
              <a:solidFill>
                <a:srgbClr val="66707A"/>
              </a:solidFill>
              <a:latin typeface="Aptos"/>
            </a:endParaRPr>
          </a:p>
        </p:txBody>
      </p:sp>
      <p:grpSp>
        <p:nvGrpSpPr>
          <p:cNvPr id="35" name="Grupo 34">
            <a:extLst>
              <a:ext uri="{FF2B5EF4-FFF2-40B4-BE49-F238E27FC236}">
                <a16:creationId xmlns:a16="http://schemas.microsoft.com/office/drawing/2014/main" id="{91919D3D-311E-009B-AD09-6251D52CC497}"/>
              </a:ext>
            </a:extLst>
          </p:cNvPr>
          <p:cNvGrpSpPr/>
          <p:nvPr/>
        </p:nvGrpSpPr>
        <p:grpSpPr>
          <a:xfrm>
            <a:off x="9000000" y="360000"/>
            <a:ext cx="2603550" cy="204671"/>
            <a:chOff x="8548980" y="1652880"/>
            <a:chExt cx="2603550" cy="204671"/>
          </a:xfrm>
        </p:grpSpPr>
        <p:sp>
          <p:nvSpPr>
            <p:cNvPr id="36" name="TextBox 3">
              <a:extLst>
                <a:ext uri="{FF2B5EF4-FFF2-40B4-BE49-F238E27FC236}">
                  <a16:creationId xmlns:a16="http://schemas.microsoft.com/office/drawing/2014/main" id="{F02F839F-C73A-D1BC-FA0C-FD92C239AB38}"/>
                </a:ext>
              </a:extLst>
            </p:cNvPr>
            <p:cNvSpPr txBox="1"/>
            <p:nvPr/>
          </p:nvSpPr>
          <p:spPr>
            <a:xfrm>
              <a:off x="9672930" y="1652880"/>
              <a:ext cx="784860" cy="204671"/>
            </a:xfrm>
            <a:prstGeom prst="rect">
              <a:avLst/>
            </a:prstGeom>
            <a:noFill/>
          </p:spPr>
          <p:txBody>
            <a:bodyPr wrap="square" lIns="36576" tIns="36576" rIns="36576" bIns="36576" anchor="t">
              <a:spAutoFit/>
            </a:bodyPr>
            <a:lstStyle/>
            <a:p>
              <a:pPr>
                <a:lnSpc>
                  <a:spcPct val="100000"/>
                </a:lnSpc>
              </a:pPr>
              <a:r>
                <a:rPr sz="850" b="1" dirty="0">
                  <a:solidFill>
                    <a:srgbClr val="66707A"/>
                  </a:solidFill>
                  <a:latin typeface="Aptos"/>
                </a:rPr>
                <a:t>06 · </a:t>
              </a:r>
              <a:r>
                <a:rPr sz="850" b="1" dirty="0" err="1">
                  <a:solidFill>
                    <a:srgbClr val="66707A"/>
                  </a:solidFill>
                  <a:latin typeface="Aptos"/>
                </a:rPr>
                <a:t>ACCIÓN</a:t>
              </a:r>
              <a:endParaRPr sz="850" b="1" dirty="0">
                <a:solidFill>
                  <a:srgbClr val="66707A"/>
                </a:solidFill>
                <a:latin typeface="Aptos"/>
              </a:endParaRPr>
            </a:p>
          </p:txBody>
        </p:sp>
        <p:grpSp>
          <p:nvGrpSpPr>
            <p:cNvPr id="37" name="Grupo 36">
              <a:extLst>
                <a:ext uri="{FF2B5EF4-FFF2-40B4-BE49-F238E27FC236}">
                  <a16:creationId xmlns:a16="http://schemas.microsoft.com/office/drawing/2014/main" id="{B2CDC6CB-32B7-8209-ECFB-D7699878DEE3}"/>
                </a:ext>
              </a:extLst>
            </p:cNvPr>
            <p:cNvGrpSpPr/>
            <p:nvPr/>
          </p:nvGrpSpPr>
          <p:grpSpPr>
            <a:xfrm>
              <a:off x="8548980" y="1688240"/>
              <a:ext cx="2603550" cy="108000"/>
              <a:chOff x="2720340" y="1737360"/>
              <a:chExt cx="2603550" cy="108000"/>
            </a:xfrm>
          </p:grpSpPr>
          <p:sp>
            <p:nvSpPr>
              <p:cNvPr id="38" name="Diagrama de flujo: conector 37">
                <a:extLst>
                  <a:ext uri="{FF2B5EF4-FFF2-40B4-BE49-F238E27FC236}">
                    <a16:creationId xmlns:a16="http://schemas.microsoft.com/office/drawing/2014/main" id="{FECB925F-01F6-7561-317A-C989936D4602}"/>
                  </a:ext>
                </a:extLst>
              </p:cNvPr>
              <p:cNvSpPr/>
              <p:nvPr/>
            </p:nvSpPr>
            <p:spPr>
              <a:xfrm>
                <a:off x="2720340" y="17373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39" name="Diagrama de flujo: conector 38">
                <a:extLst>
                  <a:ext uri="{FF2B5EF4-FFF2-40B4-BE49-F238E27FC236}">
                    <a16:creationId xmlns:a16="http://schemas.microsoft.com/office/drawing/2014/main" id="{4257A41E-5727-85D6-07A7-59F98296B914}"/>
                  </a:ext>
                </a:extLst>
              </p:cNvPr>
              <p:cNvSpPr/>
              <p:nvPr/>
            </p:nvSpPr>
            <p:spPr>
              <a:xfrm>
                <a:off x="2872740" y="17373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0" name="Diagrama de flujo: conector 39">
                <a:extLst>
                  <a:ext uri="{FF2B5EF4-FFF2-40B4-BE49-F238E27FC236}">
                    <a16:creationId xmlns:a16="http://schemas.microsoft.com/office/drawing/2014/main" id="{A8677DD6-5EAE-B589-C1C5-6E186DF4D0ED}"/>
                  </a:ext>
                </a:extLst>
              </p:cNvPr>
              <p:cNvSpPr/>
              <p:nvPr/>
            </p:nvSpPr>
            <p:spPr>
              <a:xfrm>
                <a:off x="3025140" y="17373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1" name="Diagrama de flujo: conector 40">
                <a:extLst>
                  <a:ext uri="{FF2B5EF4-FFF2-40B4-BE49-F238E27FC236}">
                    <a16:creationId xmlns:a16="http://schemas.microsoft.com/office/drawing/2014/main" id="{E92BA83D-4C80-D1E0-9ED2-B6B913796D47}"/>
                  </a:ext>
                </a:extLst>
              </p:cNvPr>
              <p:cNvSpPr/>
              <p:nvPr/>
            </p:nvSpPr>
            <p:spPr>
              <a:xfrm>
                <a:off x="3177540" y="17373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2" name="Diagrama de flujo: conector 41">
                <a:extLst>
                  <a:ext uri="{FF2B5EF4-FFF2-40B4-BE49-F238E27FC236}">
                    <a16:creationId xmlns:a16="http://schemas.microsoft.com/office/drawing/2014/main" id="{4707F7A9-1F1E-CFA5-3EFE-C09A0AFFA7DC}"/>
                  </a:ext>
                </a:extLst>
              </p:cNvPr>
              <p:cNvSpPr/>
              <p:nvPr/>
            </p:nvSpPr>
            <p:spPr>
              <a:xfrm>
                <a:off x="3329940" y="17373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3" name="Diagrama de flujo: conector 42">
                <a:extLst>
                  <a:ext uri="{FF2B5EF4-FFF2-40B4-BE49-F238E27FC236}">
                    <a16:creationId xmlns:a16="http://schemas.microsoft.com/office/drawing/2014/main" id="{BC679F97-E2AB-D5EF-E6C0-C68D8B409539}"/>
                  </a:ext>
                </a:extLst>
              </p:cNvPr>
              <p:cNvSpPr/>
              <p:nvPr/>
            </p:nvSpPr>
            <p:spPr>
              <a:xfrm>
                <a:off x="3482340" y="17373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44" name="Diagrama de flujo: conector 43">
                <a:extLst>
                  <a:ext uri="{FF2B5EF4-FFF2-40B4-BE49-F238E27FC236}">
                    <a16:creationId xmlns:a16="http://schemas.microsoft.com/office/drawing/2014/main" id="{F845531C-EAFA-EDDC-332F-206E4962494F}"/>
                  </a:ext>
                </a:extLst>
              </p:cNvPr>
              <p:cNvSpPr/>
              <p:nvPr/>
            </p:nvSpPr>
            <p:spPr>
              <a:xfrm>
                <a:off x="5063490" y="17373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45" name="Diagrama de flujo: conector 44">
                <a:extLst>
                  <a:ext uri="{FF2B5EF4-FFF2-40B4-BE49-F238E27FC236}">
                    <a16:creationId xmlns:a16="http://schemas.microsoft.com/office/drawing/2014/main" id="{DE7D83AD-215F-A3B8-AE8C-C2AB136CFE50}"/>
                  </a:ext>
                </a:extLst>
              </p:cNvPr>
              <p:cNvSpPr/>
              <p:nvPr/>
            </p:nvSpPr>
            <p:spPr>
              <a:xfrm>
                <a:off x="5215890" y="1737360"/>
                <a:ext cx="108000" cy="108000"/>
              </a:xfrm>
              <a:prstGeom prst="flowChartConnector">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grpSp>
      </p:grpSp>
      <p:sp>
        <p:nvSpPr>
          <p:cNvPr id="4" name="Rectángulo 3">
            <a:extLst>
              <a:ext uri="{FF2B5EF4-FFF2-40B4-BE49-F238E27FC236}">
                <a16:creationId xmlns:a16="http://schemas.microsoft.com/office/drawing/2014/main" id="{656EF35D-F34C-E2CA-863F-2DD2675D258B}"/>
              </a:ext>
            </a:extLst>
          </p:cNvPr>
          <p:cNvSpPr/>
          <p:nvPr/>
        </p:nvSpPr>
        <p:spPr>
          <a:xfrm>
            <a:off x="-17070" y="0"/>
            <a:ext cx="302820" cy="6858000"/>
          </a:xfrm>
          <a:prstGeom prst="rect">
            <a:avLst/>
          </a:prstGeom>
          <a:gradFill flip="none" rotWithShape="1">
            <a:gsLst>
              <a:gs pos="0">
                <a:schemeClr val="tx2">
                  <a:lumMod val="50000"/>
                </a:schemeClr>
              </a:gs>
              <a:gs pos="58000">
                <a:srgbClr val="E5E7EE"/>
              </a:gs>
              <a:gs pos="29000">
                <a:schemeClr val="tx2">
                  <a:tint val="44500"/>
                  <a:satMod val="160000"/>
                </a:schemeClr>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3233A"/>
        </a:solidFill>
        <a:effectLst/>
      </p:bgPr>
    </p:bg>
    <p:spTree>
      <p:nvGrpSpPr>
        <p:cNvPr id="1" name=""/>
        <p:cNvGrpSpPr/>
        <p:nvPr/>
      </p:nvGrpSpPr>
      <p:grpSpPr>
        <a:xfrm>
          <a:off x="0" y="0"/>
          <a:ext cx="0" cy="0"/>
          <a:chOff x="0" y="0"/>
          <a:chExt cx="0" cy="0"/>
        </a:xfrm>
      </p:grpSpPr>
      <p:sp>
        <p:nvSpPr>
          <p:cNvPr id="2" name="Rectangle 1"/>
          <p:cNvSpPr/>
          <p:nvPr/>
        </p:nvSpPr>
        <p:spPr>
          <a:xfrm>
            <a:off x="640080" y="1024128"/>
            <a:ext cx="1234440" cy="41148"/>
          </a:xfrm>
          <a:prstGeom prst="rect">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508760"/>
            <a:ext cx="10789920" cy="597087"/>
          </a:xfrm>
          <a:prstGeom prst="rect">
            <a:avLst/>
          </a:prstGeom>
          <a:noFill/>
        </p:spPr>
        <p:txBody>
          <a:bodyPr wrap="square" lIns="36576" tIns="36576" rIns="36576" bIns="36576" anchor="t">
            <a:spAutoFit/>
          </a:bodyPr>
          <a:lstStyle/>
          <a:p>
            <a:pPr algn="l">
              <a:lnSpc>
                <a:spcPct val="100000"/>
              </a:lnSpc>
            </a:pPr>
            <a:r>
              <a:rPr sz="3400" b="1" dirty="0">
                <a:solidFill>
                  <a:srgbClr val="FFFFFF"/>
                </a:solidFill>
                <a:latin typeface="Aptos"/>
              </a:rPr>
              <a:t>Gracias</a:t>
            </a:r>
          </a:p>
        </p:txBody>
      </p:sp>
      <p:sp>
        <p:nvSpPr>
          <p:cNvPr id="4" name="TextBox 3"/>
          <p:cNvSpPr txBox="1"/>
          <p:nvPr/>
        </p:nvSpPr>
        <p:spPr>
          <a:xfrm>
            <a:off x="640080" y="2331720"/>
            <a:ext cx="8686800" cy="384048"/>
          </a:xfrm>
          <a:prstGeom prst="rect">
            <a:avLst/>
          </a:prstGeom>
          <a:noFill/>
        </p:spPr>
        <p:txBody>
          <a:bodyPr wrap="square" lIns="36576" tIns="36576" rIns="36576" bIns="36576" anchor="t">
            <a:spAutoFit/>
          </a:bodyPr>
          <a:lstStyle/>
          <a:p>
            <a:pPr algn="l">
              <a:lnSpc>
                <a:spcPct val="100000"/>
              </a:lnSpc>
            </a:pPr>
            <a:r>
              <a:rPr sz="1700" b="0">
                <a:solidFill>
                  <a:srgbClr val="CEDAE7"/>
                </a:solidFill>
                <a:latin typeface="Aptos"/>
              </a:rPr>
              <a:t>Diagnóstico de Marca Empleadora · Deutsche Bank vs. peers</a:t>
            </a:r>
          </a:p>
        </p:txBody>
      </p:sp>
      <p:cxnSp>
        <p:nvCxnSpPr>
          <p:cNvPr id="5" name="Connector 4"/>
          <p:cNvCxnSpPr/>
          <p:nvPr/>
        </p:nvCxnSpPr>
        <p:spPr>
          <a:xfrm>
            <a:off x="640080" y="3703320"/>
            <a:ext cx="10899648" cy="0"/>
          </a:xfrm>
          <a:prstGeom prst="line">
            <a:avLst/>
          </a:prstGeom>
          <a:ln w="12700">
            <a:solidFill>
              <a:srgbClr val="3E546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4069080"/>
            <a:ext cx="4572000" cy="320040"/>
          </a:xfrm>
          <a:prstGeom prst="rect">
            <a:avLst/>
          </a:prstGeom>
          <a:noFill/>
        </p:spPr>
        <p:txBody>
          <a:bodyPr wrap="square" lIns="36576" tIns="36576" rIns="36576" bIns="36576" anchor="t">
            <a:spAutoFit/>
          </a:bodyPr>
          <a:lstStyle/>
          <a:p>
            <a:pPr algn="l">
              <a:lnSpc>
                <a:spcPct val="100000"/>
              </a:lnSpc>
            </a:pPr>
            <a:r>
              <a:rPr sz="1300" b="1">
                <a:solidFill>
                  <a:srgbClr val="FFFFFF"/>
                </a:solidFill>
                <a:latin typeface="Aptos"/>
              </a:rPr>
              <a:t>Adrian Justo Carballal</a:t>
            </a:r>
          </a:p>
        </p:txBody>
      </p:sp>
      <p:sp>
        <p:nvSpPr>
          <p:cNvPr id="7" name="TextBox 6"/>
          <p:cNvSpPr txBox="1"/>
          <p:nvPr/>
        </p:nvSpPr>
        <p:spPr>
          <a:xfrm>
            <a:off x="640080" y="4462272"/>
            <a:ext cx="5040284" cy="443198"/>
          </a:xfrm>
          <a:prstGeom prst="rect">
            <a:avLst/>
          </a:prstGeom>
          <a:noFill/>
        </p:spPr>
        <p:txBody>
          <a:bodyPr wrap="square" lIns="36576" tIns="36576" rIns="36576" bIns="36576" anchor="t">
            <a:spAutoFit/>
          </a:bodyPr>
          <a:lstStyle/>
          <a:p>
            <a:pPr algn="l">
              <a:lnSpc>
                <a:spcPct val="100000"/>
              </a:lnSpc>
            </a:pPr>
            <a:r>
              <a:rPr lang="es-ES" sz="1200" b="1" dirty="0">
                <a:solidFill>
                  <a:schemeClr val="accent1">
                    <a:lumMod val="60000"/>
                    <a:lumOff val="40000"/>
                  </a:schemeClr>
                </a:solidFill>
                <a:latin typeface="Aptos"/>
              </a:rPr>
              <a:t>GitHub  	- </a:t>
            </a:r>
            <a:r>
              <a:rPr lang="es-ES" sz="1200" b="1" dirty="0">
                <a:solidFill>
                  <a:schemeClr val="accent1">
                    <a:lumMod val="60000"/>
                    <a:lumOff val="40000"/>
                  </a:schemeClr>
                </a:solidFill>
                <a:latin typeface="Aptos"/>
                <a:hlinkClick r:id="rId3">
                  <a:extLst>
                    <a:ext uri="{A12FA001-AC4F-418D-AE19-62706E023703}">
                      <ahyp:hlinkClr xmlns:ahyp="http://schemas.microsoft.com/office/drawing/2018/hyperlinkcolor" val="tx"/>
                    </a:ext>
                  </a:extLst>
                </a:hlinkClick>
              </a:rPr>
              <a:t>github.com/</a:t>
            </a:r>
            <a:r>
              <a:rPr lang="es-ES" sz="1200" b="1" dirty="0" err="1">
                <a:solidFill>
                  <a:schemeClr val="accent1">
                    <a:lumMod val="60000"/>
                    <a:lumOff val="40000"/>
                  </a:schemeClr>
                </a:solidFill>
                <a:latin typeface="Aptos"/>
                <a:hlinkClick r:id="rId3">
                  <a:extLst>
                    <a:ext uri="{A12FA001-AC4F-418D-AE19-62706E023703}">
                      <ahyp:hlinkClr xmlns:ahyp="http://schemas.microsoft.com/office/drawing/2018/hyperlinkcolor" val="tx"/>
                    </a:ext>
                  </a:extLst>
                </a:hlinkClick>
              </a:rPr>
              <a:t>AdrianJusto</a:t>
            </a:r>
            <a:r>
              <a:rPr lang="es-ES" sz="1200" b="1" dirty="0">
                <a:solidFill>
                  <a:schemeClr val="accent1">
                    <a:lumMod val="60000"/>
                    <a:lumOff val="40000"/>
                  </a:schemeClr>
                </a:solidFill>
                <a:latin typeface="Aptos"/>
                <a:hlinkClick r:id="rId3">
                  <a:extLst>
                    <a:ext uri="{A12FA001-AC4F-418D-AE19-62706E023703}">
                      <ahyp:hlinkClr xmlns:ahyp="http://schemas.microsoft.com/office/drawing/2018/hyperlinkcolor" val="tx"/>
                    </a:ext>
                  </a:extLst>
                </a:hlinkClick>
              </a:rPr>
              <a:t>-Data</a:t>
            </a:r>
            <a:r>
              <a:rPr lang="es-ES" sz="1200" b="1" dirty="0">
                <a:solidFill>
                  <a:schemeClr val="accent1">
                    <a:lumMod val="60000"/>
                    <a:lumOff val="40000"/>
                  </a:schemeClr>
                </a:solidFill>
                <a:latin typeface="Aptos"/>
              </a:rPr>
              <a:t> </a:t>
            </a:r>
            <a:r>
              <a:rPr sz="1200" b="1" dirty="0">
                <a:solidFill>
                  <a:schemeClr val="accent1">
                    <a:lumMod val="60000"/>
                    <a:lumOff val="40000"/>
                  </a:schemeClr>
                </a:solidFill>
                <a:latin typeface="Aptos"/>
              </a:rPr>
              <a:t>· </a:t>
            </a:r>
            <a:endParaRPr lang="es-MX" sz="1200" b="1" dirty="0">
              <a:solidFill>
                <a:schemeClr val="accent1">
                  <a:lumMod val="60000"/>
                  <a:lumOff val="40000"/>
                </a:schemeClr>
              </a:solidFill>
              <a:latin typeface="Aptos"/>
            </a:endParaRPr>
          </a:p>
          <a:p>
            <a:pPr algn="l">
              <a:lnSpc>
                <a:spcPct val="100000"/>
              </a:lnSpc>
            </a:pPr>
            <a:r>
              <a:rPr lang="es-ES" sz="1200" b="1" dirty="0">
                <a:solidFill>
                  <a:schemeClr val="accent1">
                    <a:lumMod val="60000"/>
                    <a:lumOff val="40000"/>
                  </a:schemeClr>
                </a:solidFill>
                <a:latin typeface="Aptos"/>
              </a:rPr>
              <a:t>LinkedIn 	- </a:t>
            </a:r>
            <a:r>
              <a:rPr lang="es-ES" sz="1200" b="1" i="0" u="sng" dirty="0">
                <a:solidFill>
                  <a:schemeClr val="accent1">
                    <a:lumMod val="60000"/>
                    <a:lumOff val="40000"/>
                  </a:schemeClr>
                </a:solidFill>
                <a:effectLst/>
                <a:latin typeface="Mona Sans VF"/>
                <a:hlinkClick r:id="rId4">
                  <a:extLst>
                    <a:ext uri="{A12FA001-AC4F-418D-AE19-62706E023703}">
                      <ahyp:hlinkClr xmlns:ahyp="http://schemas.microsoft.com/office/drawing/2018/hyperlinkcolor" val="tx"/>
                    </a:ext>
                  </a:extLst>
                </a:hlinkClick>
              </a:rPr>
              <a:t>in/</a:t>
            </a:r>
            <a:r>
              <a:rPr lang="es-ES" sz="1200" b="1" i="0" u="sng" dirty="0" err="1">
                <a:solidFill>
                  <a:schemeClr val="accent1">
                    <a:lumMod val="60000"/>
                    <a:lumOff val="40000"/>
                  </a:schemeClr>
                </a:solidFill>
                <a:effectLst/>
                <a:latin typeface="Mona Sans VF"/>
                <a:hlinkClick r:id="rId4">
                  <a:extLst>
                    <a:ext uri="{A12FA001-AC4F-418D-AE19-62706E023703}">
                      <ahyp:hlinkClr xmlns:ahyp="http://schemas.microsoft.com/office/drawing/2018/hyperlinkcolor" val="tx"/>
                    </a:ext>
                  </a:extLst>
                </a:hlinkClick>
              </a:rPr>
              <a:t>adrian</a:t>
            </a:r>
            <a:r>
              <a:rPr lang="es-ES" sz="1200" b="1" i="0" u="sng" dirty="0">
                <a:solidFill>
                  <a:schemeClr val="accent1">
                    <a:lumMod val="60000"/>
                    <a:lumOff val="40000"/>
                  </a:schemeClr>
                </a:solidFill>
                <a:effectLst/>
                <a:latin typeface="Mona Sans VF"/>
                <a:hlinkClick r:id="rId4">
                  <a:extLst>
                    <a:ext uri="{A12FA001-AC4F-418D-AE19-62706E023703}">
                      <ahyp:hlinkClr xmlns:ahyp="http://schemas.microsoft.com/office/drawing/2018/hyperlinkcolor" val="tx"/>
                    </a:ext>
                  </a:extLst>
                </a:hlinkClick>
              </a:rPr>
              <a:t>-justo-</a:t>
            </a:r>
            <a:r>
              <a:rPr lang="es-ES" sz="1200" b="1" i="0" u="sng" dirty="0" err="1">
                <a:solidFill>
                  <a:schemeClr val="accent1">
                    <a:lumMod val="60000"/>
                    <a:lumOff val="40000"/>
                  </a:schemeClr>
                </a:solidFill>
                <a:effectLst/>
                <a:latin typeface="Mona Sans VF"/>
                <a:hlinkClick r:id="rId4">
                  <a:extLst>
                    <a:ext uri="{A12FA001-AC4F-418D-AE19-62706E023703}">
                      <ahyp:hlinkClr xmlns:ahyp="http://schemas.microsoft.com/office/drawing/2018/hyperlinkcolor" val="tx"/>
                    </a:ext>
                  </a:extLst>
                </a:hlinkClick>
              </a:rPr>
              <a:t>carballal</a:t>
            </a:r>
            <a:endParaRPr sz="1200" b="1" dirty="0">
              <a:solidFill>
                <a:schemeClr val="accent1">
                  <a:lumMod val="60000"/>
                  <a:lumOff val="40000"/>
                </a:schemeClr>
              </a:solidFill>
              <a:latin typeface="Aptos"/>
            </a:endParaRPr>
          </a:p>
        </p:txBody>
      </p:sp>
      <p:sp>
        <p:nvSpPr>
          <p:cNvPr id="8" name="Rounded Rectangle 7"/>
          <p:cNvSpPr/>
          <p:nvPr/>
        </p:nvSpPr>
        <p:spPr>
          <a:xfrm>
            <a:off x="640080" y="5257800"/>
            <a:ext cx="10881360" cy="621792"/>
          </a:xfrm>
          <a:prstGeom prst="roundRect">
            <a:avLst>
              <a:gd name="adj" fmla="val 8000"/>
            </a:avLst>
          </a:prstGeom>
          <a:solidFill>
            <a:srgbClr val="1E314C"/>
          </a:solidFill>
          <a:ln>
            <a:solidFill>
              <a:srgbClr val="3E54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5422392"/>
            <a:ext cx="10424160" cy="256032"/>
          </a:xfrm>
          <a:prstGeom prst="rect">
            <a:avLst/>
          </a:prstGeom>
          <a:noFill/>
        </p:spPr>
        <p:txBody>
          <a:bodyPr wrap="square" lIns="36576" tIns="36576" rIns="36576" bIns="36576" anchor="t">
            <a:spAutoFit/>
          </a:bodyPr>
          <a:lstStyle/>
          <a:p>
            <a:pPr algn="ctr">
              <a:lnSpc>
                <a:spcPct val="100000"/>
              </a:lnSpc>
            </a:pPr>
            <a:r>
              <a:rPr sz="1150" b="1">
                <a:solidFill>
                  <a:srgbClr val="FFFFFF"/>
                </a:solidFill>
                <a:latin typeface="Aptos"/>
              </a:rPr>
              <a:t>El análisis completo, reproducible, está en el repositorio.</a:t>
            </a:r>
          </a:p>
        </p:txBody>
      </p:sp>
      <p:sp>
        <p:nvSpPr>
          <p:cNvPr id="10" name="TextBox 9"/>
          <p:cNvSpPr txBox="1"/>
          <p:nvPr/>
        </p:nvSpPr>
        <p:spPr>
          <a:xfrm>
            <a:off x="640080" y="6519672"/>
            <a:ext cx="7315200" cy="182880"/>
          </a:xfrm>
          <a:prstGeom prst="rect">
            <a:avLst/>
          </a:prstGeom>
          <a:noFill/>
        </p:spPr>
        <p:txBody>
          <a:bodyPr wrap="square" lIns="36576" tIns="36576" rIns="36576" bIns="36576" anchor="t">
            <a:spAutoFit/>
          </a:bodyPr>
          <a:lstStyle/>
          <a:p>
            <a:pPr algn="l">
              <a:lnSpc>
                <a:spcPct val="100000"/>
              </a:lnSpc>
            </a:pPr>
            <a:r>
              <a:rPr sz="750" b="0">
                <a:solidFill>
                  <a:srgbClr val="9AACC1"/>
                </a:solidFill>
                <a:latin typeface="Aptos"/>
              </a:rPr>
              <a:t>Fuente: Glassdoor Job Reviews 1+2 (Kaggle) · 2018–2023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TotalTime>
  <Words>1930</Words>
  <Application>Microsoft Office PowerPoint</Application>
  <PresentationFormat>Panorámica</PresentationFormat>
  <Paragraphs>183</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Aptos</vt:lpstr>
      <vt:lpstr>Arial</vt:lpstr>
      <vt:lpstr>Calibri</vt:lpstr>
      <vt:lpstr>Mona Sans VF</vt:lpstr>
      <vt:lpstr>quote-cjk-patch</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Adrian Justo</dc:creator>
  <cp:keywords/>
  <cp:lastModifiedBy>Adrian Justo</cp:lastModifiedBy>
  <cp:revision>9</cp:revision>
  <dcterms:created xsi:type="dcterms:W3CDTF">2013-01-27T09:14:16Z</dcterms:created>
  <dcterms:modified xsi:type="dcterms:W3CDTF">2026-10-07T17:41:28Z</dcterms:modified>
  <cp:category/>
</cp:coreProperties>
</file>